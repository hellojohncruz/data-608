
<file path=[Content_Types].xml><?xml version="1.0" encoding="utf-8"?>
<Types xmlns="http://schemas.openxmlformats.org/package/2006/content-types">
  <Default Extension="jpeg" ContentType="image/jpeg"/>
  <Default Extension="mov" ContentType="video/quicktime"/>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2" r:id="rId7"/>
    <p:sldId id="261" r:id="rId8"/>
    <p:sldId id="264" r:id="rId9"/>
    <p:sldId id="263" r:id="rId10"/>
    <p:sldId id="265" r:id="rId11"/>
    <p:sldId id="26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749"/>
    <p:restoredTop sz="94637"/>
  </p:normalViewPr>
  <p:slideViewPr>
    <p:cSldViewPr snapToGrid="0">
      <p:cViewPr varScale="1">
        <p:scale>
          <a:sx n="209" d="100"/>
          <a:sy n="209" d="100"/>
        </p:scale>
        <p:origin x="12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01B90D4-AD89-4AA3-B6A1-4BF9026FC677}" type="doc">
      <dgm:prSet loTypeId="urn:microsoft.com/office/officeart/2005/8/layout/hierarchy1" loCatId="hierarchy" qsTypeId="urn:microsoft.com/office/officeart/2005/8/quickstyle/simple1" qsCatId="simple" csTypeId="urn:microsoft.com/office/officeart/2005/8/colors/colorful2" csCatId="colorful" phldr="1"/>
      <dgm:spPr/>
      <dgm:t>
        <a:bodyPr/>
        <a:lstStyle/>
        <a:p>
          <a:endParaRPr lang="en-US"/>
        </a:p>
      </dgm:t>
    </dgm:pt>
    <dgm:pt modelId="{E1A4B973-DE36-4510-980D-AD6D4AF77BEA}">
      <dgm:prSet/>
      <dgm:spPr/>
      <dgm:t>
        <a:bodyPr/>
        <a:lstStyle/>
        <a:p>
          <a:r>
            <a:rPr lang="en-US" b="1" dirty="0"/>
            <a:t>Southern states, particularly Republican-led states such as Texas, Louisiana, and New Mexico, show persistently high poverty and food insecurity rates. </a:t>
          </a:r>
          <a:r>
            <a:rPr lang="en-US" b="0"/>
            <a:t>T</a:t>
          </a:r>
          <a:r>
            <a:rPr lang="en-US"/>
            <a:t>argeted </a:t>
          </a:r>
          <a:r>
            <a:rPr lang="en-US" dirty="0"/>
            <a:t>federal and state resources should prioritize children seventeen and under, who remain the most at-risk across all demographics and experience food insecurity at the highest rates during their developmental years.</a:t>
          </a:r>
        </a:p>
      </dgm:t>
    </dgm:pt>
    <dgm:pt modelId="{FEC5FBE0-E9F2-4F3E-911E-6604137DF9B0}" type="parTrans" cxnId="{5AD17926-0014-4599-985A-949A8EBBC05B}">
      <dgm:prSet/>
      <dgm:spPr/>
      <dgm:t>
        <a:bodyPr/>
        <a:lstStyle/>
        <a:p>
          <a:endParaRPr lang="en-US"/>
        </a:p>
      </dgm:t>
    </dgm:pt>
    <dgm:pt modelId="{43F74217-EAFD-4057-A974-0BF8C5247F12}" type="sibTrans" cxnId="{5AD17926-0014-4599-985A-949A8EBBC05B}">
      <dgm:prSet/>
      <dgm:spPr/>
      <dgm:t>
        <a:bodyPr/>
        <a:lstStyle/>
        <a:p>
          <a:endParaRPr lang="en-US"/>
        </a:p>
      </dgm:t>
    </dgm:pt>
    <dgm:pt modelId="{92C71AB9-C2E4-4D7D-9973-C990C0FD43E5}">
      <dgm:prSet/>
      <dgm:spPr/>
      <dgm:t>
        <a:bodyPr/>
        <a:lstStyle/>
        <a:p>
          <a:r>
            <a:rPr lang="en-US" b="1"/>
            <a:t>School-based food assistance from preschool through high school should be expanded and strategically directed toward districts with high Black, Hispanic, and Other minority student densities</a:t>
          </a:r>
          <a:r>
            <a:rPr lang="en-US"/>
            <a:t>, ensuring equitable nutrition access regardless of sex while focusing support where food insecurity and malnutrition are most concentrated.</a:t>
          </a:r>
        </a:p>
      </dgm:t>
    </dgm:pt>
    <dgm:pt modelId="{4A625FBA-C290-4314-BEA4-C9622AF4650B}" type="parTrans" cxnId="{65C3705C-0342-4B1A-B9F3-1CB75469AE45}">
      <dgm:prSet/>
      <dgm:spPr/>
      <dgm:t>
        <a:bodyPr/>
        <a:lstStyle/>
        <a:p>
          <a:endParaRPr lang="en-US"/>
        </a:p>
      </dgm:t>
    </dgm:pt>
    <dgm:pt modelId="{EDDAD94F-93BE-470C-8C3E-FE82659B1480}" type="sibTrans" cxnId="{65C3705C-0342-4B1A-B9F3-1CB75469AE45}">
      <dgm:prSet/>
      <dgm:spPr/>
      <dgm:t>
        <a:bodyPr/>
        <a:lstStyle/>
        <a:p>
          <a:endParaRPr lang="en-US"/>
        </a:p>
      </dgm:t>
    </dgm:pt>
    <dgm:pt modelId="{3635EE4C-8871-B146-BBBD-DC9E0AFF82AE}" type="pres">
      <dgm:prSet presAssocID="{E01B90D4-AD89-4AA3-B6A1-4BF9026FC677}" presName="hierChild1" presStyleCnt="0">
        <dgm:presLayoutVars>
          <dgm:chPref val="1"/>
          <dgm:dir/>
          <dgm:animOne val="branch"/>
          <dgm:animLvl val="lvl"/>
          <dgm:resizeHandles/>
        </dgm:presLayoutVars>
      </dgm:prSet>
      <dgm:spPr/>
    </dgm:pt>
    <dgm:pt modelId="{51099B63-E79E-BB42-92C6-D8F6088CAE2B}" type="pres">
      <dgm:prSet presAssocID="{E1A4B973-DE36-4510-980D-AD6D4AF77BEA}" presName="hierRoot1" presStyleCnt="0"/>
      <dgm:spPr/>
    </dgm:pt>
    <dgm:pt modelId="{26C1AA8D-B664-D145-A133-79A4B3A60AE4}" type="pres">
      <dgm:prSet presAssocID="{E1A4B973-DE36-4510-980D-AD6D4AF77BEA}" presName="composite" presStyleCnt="0"/>
      <dgm:spPr/>
    </dgm:pt>
    <dgm:pt modelId="{0F6F2FC4-79F7-0244-9479-B9977FDB7D89}" type="pres">
      <dgm:prSet presAssocID="{E1A4B973-DE36-4510-980D-AD6D4AF77BEA}" presName="background" presStyleLbl="node0" presStyleIdx="0" presStyleCnt="2"/>
      <dgm:spPr/>
    </dgm:pt>
    <dgm:pt modelId="{6437E953-7867-2349-9F7C-3FCE664C5258}" type="pres">
      <dgm:prSet presAssocID="{E1A4B973-DE36-4510-980D-AD6D4AF77BEA}" presName="text" presStyleLbl="fgAcc0" presStyleIdx="0" presStyleCnt="2">
        <dgm:presLayoutVars>
          <dgm:chPref val="3"/>
        </dgm:presLayoutVars>
      </dgm:prSet>
      <dgm:spPr/>
    </dgm:pt>
    <dgm:pt modelId="{2ABD6D3E-70FE-5840-9AA6-BC8C40F6AB16}" type="pres">
      <dgm:prSet presAssocID="{E1A4B973-DE36-4510-980D-AD6D4AF77BEA}" presName="hierChild2" presStyleCnt="0"/>
      <dgm:spPr/>
    </dgm:pt>
    <dgm:pt modelId="{ED1C7804-567B-3F49-A55D-D7D5B6B8D4DB}" type="pres">
      <dgm:prSet presAssocID="{92C71AB9-C2E4-4D7D-9973-C990C0FD43E5}" presName="hierRoot1" presStyleCnt="0"/>
      <dgm:spPr/>
    </dgm:pt>
    <dgm:pt modelId="{315ACDD1-B140-5D44-B589-552EE402E679}" type="pres">
      <dgm:prSet presAssocID="{92C71AB9-C2E4-4D7D-9973-C990C0FD43E5}" presName="composite" presStyleCnt="0"/>
      <dgm:spPr/>
    </dgm:pt>
    <dgm:pt modelId="{A6837B72-0F22-154A-93AF-9AC69D76BE8D}" type="pres">
      <dgm:prSet presAssocID="{92C71AB9-C2E4-4D7D-9973-C990C0FD43E5}" presName="background" presStyleLbl="node0" presStyleIdx="1" presStyleCnt="2"/>
      <dgm:spPr/>
    </dgm:pt>
    <dgm:pt modelId="{CB8360AD-6E6B-0340-A3D0-5AAF26AB3672}" type="pres">
      <dgm:prSet presAssocID="{92C71AB9-C2E4-4D7D-9973-C990C0FD43E5}" presName="text" presStyleLbl="fgAcc0" presStyleIdx="1" presStyleCnt="2">
        <dgm:presLayoutVars>
          <dgm:chPref val="3"/>
        </dgm:presLayoutVars>
      </dgm:prSet>
      <dgm:spPr/>
    </dgm:pt>
    <dgm:pt modelId="{0D7ADD18-DB37-6C4A-8C3B-22E9DFA1F729}" type="pres">
      <dgm:prSet presAssocID="{92C71AB9-C2E4-4D7D-9973-C990C0FD43E5}" presName="hierChild2" presStyleCnt="0"/>
      <dgm:spPr/>
    </dgm:pt>
  </dgm:ptLst>
  <dgm:cxnLst>
    <dgm:cxn modelId="{5AD17926-0014-4599-985A-949A8EBBC05B}" srcId="{E01B90D4-AD89-4AA3-B6A1-4BF9026FC677}" destId="{E1A4B973-DE36-4510-980D-AD6D4AF77BEA}" srcOrd="0" destOrd="0" parTransId="{FEC5FBE0-E9F2-4F3E-911E-6604137DF9B0}" sibTransId="{43F74217-EAFD-4057-A974-0BF8C5247F12}"/>
    <dgm:cxn modelId="{E9C8F842-920C-3C47-A736-7AA79E11E229}" type="presOf" srcId="{E1A4B973-DE36-4510-980D-AD6D4AF77BEA}" destId="{6437E953-7867-2349-9F7C-3FCE664C5258}" srcOrd="0" destOrd="0" presId="urn:microsoft.com/office/officeart/2005/8/layout/hierarchy1"/>
    <dgm:cxn modelId="{65C3705C-0342-4B1A-B9F3-1CB75469AE45}" srcId="{E01B90D4-AD89-4AA3-B6A1-4BF9026FC677}" destId="{92C71AB9-C2E4-4D7D-9973-C990C0FD43E5}" srcOrd="1" destOrd="0" parTransId="{4A625FBA-C290-4314-BEA4-C9622AF4650B}" sibTransId="{EDDAD94F-93BE-470C-8C3E-FE82659B1480}"/>
    <dgm:cxn modelId="{FC9CEAA1-EDE4-F446-9250-D766FDE9D49E}" type="presOf" srcId="{E01B90D4-AD89-4AA3-B6A1-4BF9026FC677}" destId="{3635EE4C-8871-B146-BBBD-DC9E0AFF82AE}" srcOrd="0" destOrd="0" presId="urn:microsoft.com/office/officeart/2005/8/layout/hierarchy1"/>
    <dgm:cxn modelId="{B87286AE-3184-6F44-875B-3824DD6F7D49}" type="presOf" srcId="{92C71AB9-C2E4-4D7D-9973-C990C0FD43E5}" destId="{CB8360AD-6E6B-0340-A3D0-5AAF26AB3672}" srcOrd="0" destOrd="0" presId="urn:microsoft.com/office/officeart/2005/8/layout/hierarchy1"/>
    <dgm:cxn modelId="{73198EFE-2E11-5749-A0AA-31696602FACD}" type="presParOf" srcId="{3635EE4C-8871-B146-BBBD-DC9E0AFF82AE}" destId="{51099B63-E79E-BB42-92C6-D8F6088CAE2B}" srcOrd="0" destOrd="0" presId="urn:microsoft.com/office/officeart/2005/8/layout/hierarchy1"/>
    <dgm:cxn modelId="{8A043BBF-3E76-FE4D-A060-528EACA64CFC}" type="presParOf" srcId="{51099B63-E79E-BB42-92C6-D8F6088CAE2B}" destId="{26C1AA8D-B664-D145-A133-79A4B3A60AE4}" srcOrd="0" destOrd="0" presId="urn:microsoft.com/office/officeart/2005/8/layout/hierarchy1"/>
    <dgm:cxn modelId="{0B529E70-BC53-DB44-AFC6-55B379B9BC23}" type="presParOf" srcId="{26C1AA8D-B664-D145-A133-79A4B3A60AE4}" destId="{0F6F2FC4-79F7-0244-9479-B9977FDB7D89}" srcOrd="0" destOrd="0" presId="urn:microsoft.com/office/officeart/2005/8/layout/hierarchy1"/>
    <dgm:cxn modelId="{1379C6B2-D122-3B42-96E9-1DB1177D3EB6}" type="presParOf" srcId="{26C1AA8D-B664-D145-A133-79A4B3A60AE4}" destId="{6437E953-7867-2349-9F7C-3FCE664C5258}" srcOrd="1" destOrd="0" presId="urn:microsoft.com/office/officeart/2005/8/layout/hierarchy1"/>
    <dgm:cxn modelId="{AB0B0BDA-8233-4A4F-B2FA-8EB03A71A44A}" type="presParOf" srcId="{51099B63-E79E-BB42-92C6-D8F6088CAE2B}" destId="{2ABD6D3E-70FE-5840-9AA6-BC8C40F6AB16}" srcOrd="1" destOrd="0" presId="urn:microsoft.com/office/officeart/2005/8/layout/hierarchy1"/>
    <dgm:cxn modelId="{12FA8F26-C894-FF46-A542-2AF21AF0B92C}" type="presParOf" srcId="{3635EE4C-8871-B146-BBBD-DC9E0AFF82AE}" destId="{ED1C7804-567B-3F49-A55D-D7D5B6B8D4DB}" srcOrd="1" destOrd="0" presId="urn:microsoft.com/office/officeart/2005/8/layout/hierarchy1"/>
    <dgm:cxn modelId="{BB3C42CA-B686-7D48-815F-4F5CEF7EB0EC}" type="presParOf" srcId="{ED1C7804-567B-3F49-A55D-D7D5B6B8D4DB}" destId="{315ACDD1-B140-5D44-B589-552EE402E679}" srcOrd="0" destOrd="0" presId="urn:microsoft.com/office/officeart/2005/8/layout/hierarchy1"/>
    <dgm:cxn modelId="{A12951C3-5A4A-9140-B955-45B708CC578D}" type="presParOf" srcId="{315ACDD1-B140-5D44-B589-552EE402E679}" destId="{A6837B72-0F22-154A-93AF-9AC69D76BE8D}" srcOrd="0" destOrd="0" presId="urn:microsoft.com/office/officeart/2005/8/layout/hierarchy1"/>
    <dgm:cxn modelId="{F8CFB8E8-C619-724F-AEF1-4C7665A16C22}" type="presParOf" srcId="{315ACDD1-B140-5D44-B589-552EE402E679}" destId="{CB8360AD-6E6B-0340-A3D0-5AAF26AB3672}" srcOrd="1" destOrd="0" presId="urn:microsoft.com/office/officeart/2005/8/layout/hierarchy1"/>
    <dgm:cxn modelId="{1EA2E020-EADE-0B46-89B1-98C5D0692EED}" type="presParOf" srcId="{ED1C7804-567B-3F49-A55D-D7D5B6B8D4DB}" destId="{0D7ADD18-DB37-6C4A-8C3B-22E9DFA1F729}"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6F2FC4-79F7-0244-9479-B9977FDB7D89}">
      <dsp:nvSpPr>
        <dsp:cNvPr id="0" name=""/>
        <dsp:cNvSpPr/>
      </dsp:nvSpPr>
      <dsp:spPr>
        <a:xfrm>
          <a:off x="1333" y="110983"/>
          <a:ext cx="4682211" cy="297320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437E953-7867-2349-9F7C-3FCE664C5258}">
      <dsp:nvSpPr>
        <dsp:cNvPr id="0" name=""/>
        <dsp:cNvSpPr/>
      </dsp:nvSpPr>
      <dsp:spPr>
        <a:xfrm>
          <a:off x="521579" y="605216"/>
          <a:ext cx="4682211" cy="297320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dirty="0"/>
            <a:t>Southern states, particularly Republican-led states such as Texas, Louisiana, and New Mexico, show persistently high poverty and food insecurity rates. </a:t>
          </a:r>
          <a:r>
            <a:rPr lang="en-US" sz="1900" b="0" kern="1200"/>
            <a:t>T</a:t>
          </a:r>
          <a:r>
            <a:rPr lang="en-US" sz="1900" kern="1200"/>
            <a:t>argeted </a:t>
          </a:r>
          <a:r>
            <a:rPr lang="en-US" sz="1900" kern="1200" dirty="0"/>
            <a:t>federal and state resources should prioritize children seventeen and under, who remain the most at-risk across all demographics and experience food insecurity at the highest rates during their developmental years.</a:t>
          </a:r>
        </a:p>
      </dsp:txBody>
      <dsp:txXfrm>
        <a:off x="608661" y="692298"/>
        <a:ext cx="4508047" cy="2799040"/>
      </dsp:txXfrm>
    </dsp:sp>
    <dsp:sp modelId="{A6837B72-0F22-154A-93AF-9AC69D76BE8D}">
      <dsp:nvSpPr>
        <dsp:cNvPr id="0" name=""/>
        <dsp:cNvSpPr/>
      </dsp:nvSpPr>
      <dsp:spPr>
        <a:xfrm>
          <a:off x="5724037" y="110983"/>
          <a:ext cx="4682211" cy="2973204"/>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B8360AD-6E6B-0340-A3D0-5AAF26AB3672}">
      <dsp:nvSpPr>
        <dsp:cNvPr id="0" name=""/>
        <dsp:cNvSpPr/>
      </dsp:nvSpPr>
      <dsp:spPr>
        <a:xfrm>
          <a:off x="6244283" y="605216"/>
          <a:ext cx="4682211" cy="2973204"/>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2390" tIns="72390" rIns="72390" bIns="72390" numCol="1" spcCol="1270" anchor="ctr" anchorCtr="0">
          <a:noAutofit/>
        </a:bodyPr>
        <a:lstStyle/>
        <a:p>
          <a:pPr marL="0" lvl="0" indent="0" algn="ctr" defTabSz="844550">
            <a:lnSpc>
              <a:spcPct val="90000"/>
            </a:lnSpc>
            <a:spcBef>
              <a:spcPct val="0"/>
            </a:spcBef>
            <a:spcAft>
              <a:spcPct val="35000"/>
            </a:spcAft>
            <a:buNone/>
          </a:pPr>
          <a:r>
            <a:rPr lang="en-US" sz="1900" b="1" kern="1200"/>
            <a:t>School-based food assistance from preschool through high school should be expanded and strategically directed toward districts with high Black, Hispanic, and Other minority student densities</a:t>
          </a:r>
          <a:r>
            <a:rPr lang="en-US" sz="1900" kern="1200"/>
            <a:t>, ensuring equitable nutrition access regardless of sex while focusing support where food insecurity and malnutrition are most concentrated.</a:t>
          </a:r>
        </a:p>
      </dsp:txBody>
      <dsp:txXfrm>
        <a:off x="6331365" y="692298"/>
        <a:ext cx="4508047" cy="279904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AE6A1-C26F-D37E-DE58-A00DD3FA4C7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B32D721-769B-4583-160E-204D579E56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695892E-71CC-693E-0975-F6D07D5DFE95}"/>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5" name="Footer Placeholder 4">
            <a:extLst>
              <a:ext uri="{FF2B5EF4-FFF2-40B4-BE49-F238E27FC236}">
                <a16:creationId xmlns:a16="http://schemas.microsoft.com/office/drawing/2014/main" id="{F098D754-8FFB-EB96-F6D2-770ACCB0531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A7632-BD27-A57E-35DD-1E1CF7A3F565}"/>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26141373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50D004-5AA2-C50D-CC9F-7246A5E5F29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52B0423-BB15-7451-FDD6-948C9626EC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DA0EA5F-5141-07E2-8A68-0CF9308EEF60}"/>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5" name="Footer Placeholder 4">
            <a:extLst>
              <a:ext uri="{FF2B5EF4-FFF2-40B4-BE49-F238E27FC236}">
                <a16:creationId xmlns:a16="http://schemas.microsoft.com/office/drawing/2014/main" id="{3E4F3A9C-77D7-D3D3-4438-C6074DB3D3C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FC7832-6DBD-89E9-EAE6-31A58EA708B1}"/>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960914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3674CE-30D7-3942-5E17-0F6DE1F539C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B1A94FB-8157-80D3-DAD7-056D6E56267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FF7E73D-9190-82A4-4FD6-C2848B2A9A3A}"/>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5" name="Footer Placeholder 4">
            <a:extLst>
              <a:ext uri="{FF2B5EF4-FFF2-40B4-BE49-F238E27FC236}">
                <a16:creationId xmlns:a16="http://schemas.microsoft.com/office/drawing/2014/main" id="{F5EEFF2A-8EB3-5A77-EB43-E44C9C8735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B08E57-33CB-A9DD-D255-5FFA1F4E16F4}"/>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18849171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B29083-10BC-D01C-439C-29C308C1DEA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AC49F19-3582-4EDF-741E-261244835C5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29A8DB0-18B7-FE5A-87F9-9CBD01852F2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824D365-80E1-08C2-AF2C-9D5207F1D561}"/>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6" name="Footer Placeholder 5">
            <a:extLst>
              <a:ext uri="{FF2B5EF4-FFF2-40B4-BE49-F238E27FC236}">
                <a16:creationId xmlns:a16="http://schemas.microsoft.com/office/drawing/2014/main" id="{B4A9587A-6743-E0AC-C2A7-EB7AED6D80D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1CDD8F9-3483-53FE-2D7A-F1FF1AB6AE63}"/>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16002182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B335D-96A5-352D-B005-95F9E60A6B0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F9C313-62E4-F977-E79B-E9C1D2BF2B3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4716D92-8CB2-5410-9A98-15887A7A91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EF30639-DEFE-0AEA-9CC1-FC6FC35F5B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078EC0-0A3B-F2D2-050B-4B00C0020D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44D3131-B97D-1F6D-3A7F-6E4D1C42215F}"/>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8" name="Footer Placeholder 7">
            <a:extLst>
              <a:ext uri="{FF2B5EF4-FFF2-40B4-BE49-F238E27FC236}">
                <a16:creationId xmlns:a16="http://schemas.microsoft.com/office/drawing/2014/main" id="{8219F83D-0313-3B6A-40D5-F12B2BB548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77F9052A-6C0F-DA68-35A6-5B4D243FEDB4}"/>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547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56225A-A8B7-4008-D278-8DB5C55B7E3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B67D212-BDDD-FF62-B899-6DF9AC3CE783}"/>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4" name="Footer Placeholder 3">
            <a:extLst>
              <a:ext uri="{FF2B5EF4-FFF2-40B4-BE49-F238E27FC236}">
                <a16:creationId xmlns:a16="http://schemas.microsoft.com/office/drawing/2014/main" id="{BAAEFFFA-CA94-678C-E334-6AC1742DDF6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718CE6E-A249-865D-3E55-77B1984DFE0F}"/>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28876118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ABBB54-DD0F-75E6-6D5E-A28ADD45F4A4}"/>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3" name="Footer Placeholder 2">
            <a:extLst>
              <a:ext uri="{FF2B5EF4-FFF2-40B4-BE49-F238E27FC236}">
                <a16:creationId xmlns:a16="http://schemas.microsoft.com/office/drawing/2014/main" id="{CC9FA62F-AD99-7DD9-1077-4D8E73E3E1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BB7D9A1-FFAB-B61F-A67B-ECAB2C9808B5}"/>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2114421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DDEB94-FBBA-A818-3B99-A369ADC731E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993C722-E1C1-EFCB-0396-41703856F6D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4BF6A35-4876-DAF6-7E86-F15FAD877B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5076A9-6CA2-DD2D-7E07-EA4F8252D584}"/>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6" name="Footer Placeholder 5">
            <a:extLst>
              <a:ext uri="{FF2B5EF4-FFF2-40B4-BE49-F238E27FC236}">
                <a16:creationId xmlns:a16="http://schemas.microsoft.com/office/drawing/2014/main" id="{2BC98D6C-30CC-8B29-CC2B-6EE7FFE59E2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56481A-D854-579F-5D31-8251D9268614}"/>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2963963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7CE111-8E6A-87CA-A514-59847E6E31C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603015E-D335-D78C-410F-DD168F43C3F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DB69941-4C02-DA8C-2EAD-5F2E8099CD5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A1F7EBC-03C6-0617-93FC-001DC3F92664}"/>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6" name="Footer Placeholder 5">
            <a:extLst>
              <a:ext uri="{FF2B5EF4-FFF2-40B4-BE49-F238E27FC236}">
                <a16:creationId xmlns:a16="http://schemas.microsoft.com/office/drawing/2014/main" id="{611B2E28-6306-F0E3-13EB-A605FAE3315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F9F695-21DB-8837-7E69-8DF7E971CFEB}"/>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3558090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6E72-308B-63DE-121E-7B038845912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8E53210-9271-AC10-3E16-8EC081E6956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6C069-4806-7E83-645B-309BB942E35A}"/>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5" name="Footer Placeholder 4">
            <a:extLst>
              <a:ext uri="{FF2B5EF4-FFF2-40B4-BE49-F238E27FC236}">
                <a16:creationId xmlns:a16="http://schemas.microsoft.com/office/drawing/2014/main" id="{8D1A58CC-CDDD-147F-5F0D-94376E07443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5FFFE3-2952-9DF0-C5AA-7D034C25AEBB}"/>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25684970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5886E2B-A790-61EA-BD10-39644FA54BB7}"/>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A7E541-0458-0C1A-D6B8-1DF4FF268D5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4C7586-CBE9-CA7A-590B-C9FCC4864416}"/>
              </a:ext>
            </a:extLst>
          </p:cNvPr>
          <p:cNvSpPr>
            <a:spLocks noGrp="1"/>
          </p:cNvSpPr>
          <p:nvPr>
            <p:ph type="dt" sz="half" idx="10"/>
          </p:nvPr>
        </p:nvSpPr>
        <p:spPr/>
        <p:txBody>
          <a:bodyPr/>
          <a:lstStyle/>
          <a:p>
            <a:fld id="{EA82439D-7B0D-6440-8B1F-E8DB98967930}" type="datetimeFigureOut">
              <a:rPr lang="en-US" smtClean="0"/>
              <a:t>11/30/25</a:t>
            </a:fld>
            <a:endParaRPr lang="en-US"/>
          </a:p>
        </p:txBody>
      </p:sp>
      <p:sp>
        <p:nvSpPr>
          <p:cNvPr id="5" name="Footer Placeholder 4">
            <a:extLst>
              <a:ext uri="{FF2B5EF4-FFF2-40B4-BE49-F238E27FC236}">
                <a16:creationId xmlns:a16="http://schemas.microsoft.com/office/drawing/2014/main" id="{55EC3C2E-F8F3-12A6-AF71-1E8B9D3254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6453E0-D755-C38F-0DC1-17BEA1204315}"/>
              </a:ext>
            </a:extLst>
          </p:cNvPr>
          <p:cNvSpPr>
            <a:spLocks noGrp="1"/>
          </p:cNvSpPr>
          <p:nvPr>
            <p:ph type="sldNum" sz="quarter" idx="12"/>
          </p:nvPr>
        </p:nvSpPr>
        <p:spPr/>
        <p:txBody>
          <a:bodyPr/>
          <a:lstStyle/>
          <a:p>
            <a:fld id="{AD6CA692-10F9-9E42-81D1-D2665001B6DA}" type="slidenum">
              <a:rPr lang="en-US" smtClean="0"/>
              <a:t>‹#›</a:t>
            </a:fld>
            <a:endParaRPr lang="en-US"/>
          </a:p>
        </p:txBody>
      </p:sp>
    </p:spTree>
    <p:extLst>
      <p:ext uri="{BB962C8B-B14F-4D97-AF65-F5344CB8AC3E}">
        <p14:creationId xmlns:p14="http://schemas.microsoft.com/office/powerpoint/2010/main" val="1991011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53D2798-680A-B21A-AF5C-58A2E20864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C34ACAD-F0AC-CBB1-8AB4-B310C9474A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1B3B927-198A-6BD2-1201-D994158D218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A82439D-7B0D-6440-8B1F-E8DB98967930}" type="datetimeFigureOut">
              <a:rPr lang="en-US" smtClean="0"/>
              <a:t>11/30/25</a:t>
            </a:fld>
            <a:endParaRPr lang="en-US"/>
          </a:p>
        </p:txBody>
      </p:sp>
      <p:sp>
        <p:nvSpPr>
          <p:cNvPr id="5" name="Footer Placeholder 4">
            <a:extLst>
              <a:ext uri="{FF2B5EF4-FFF2-40B4-BE49-F238E27FC236}">
                <a16:creationId xmlns:a16="http://schemas.microsoft.com/office/drawing/2014/main" id="{DC8A7F80-C116-957A-3E1D-E8126B296E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F1DF5882-2027-2056-5A4C-5C1A2186F38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D6CA692-10F9-9E42-81D1-D2665001B6DA}" type="slidenum">
              <a:rPr lang="en-US" smtClean="0"/>
              <a:t>‹#›</a:t>
            </a:fld>
            <a:endParaRPr lang="en-US"/>
          </a:p>
        </p:txBody>
      </p:sp>
    </p:spTree>
    <p:extLst>
      <p:ext uri="{BB962C8B-B14F-4D97-AF65-F5344CB8AC3E}">
        <p14:creationId xmlns:p14="http://schemas.microsoft.com/office/powerpoint/2010/main" val="35919836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CE27A23-1F2E-4D0A-0E54-4B2CCB53BBB5}"/>
              </a:ext>
            </a:extLst>
          </p:cNvPr>
          <p:cNvSpPr>
            <a:spLocks noGrp="1"/>
          </p:cNvSpPr>
          <p:nvPr>
            <p:ph type="ctrTitle"/>
          </p:nvPr>
        </p:nvSpPr>
        <p:spPr>
          <a:xfrm>
            <a:off x="1386865" y="818984"/>
            <a:ext cx="6596245" cy="3268520"/>
          </a:xfrm>
        </p:spPr>
        <p:txBody>
          <a:bodyPr>
            <a:normAutofit/>
          </a:bodyPr>
          <a:lstStyle/>
          <a:p>
            <a:pPr algn="r"/>
            <a:r>
              <a:rPr lang="en-US" sz="6600" dirty="0">
                <a:solidFill>
                  <a:srgbClr val="FFFFFF"/>
                </a:solidFill>
                <a:latin typeface="Calibri" panose="020F0502020204030204" pitchFamily="34" charset="0"/>
                <a:cs typeface="Calibri" panose="020F0502020204030204" pitchFamily="34" charset="0"/>
              </a:rPr>
              <a:t>Food Insecurity in the United States</a:t>
            </a:r>
          </a:p>
        </p:txBody>
      </p:sp>
      <p:sp>
        <p:nvSpPr>
          <p:cNvPr id="17" name="Rectangle 16">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38040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6" name="Rectangle 2">
            <a:extLst>
              <a:ext uri="{FF2B5EF4-FFF2-40B4-BE49-F238E27FC236}">
                <a16:creationId xmlns:a16="http://schemas.microsoft.com/office/drawing/2014/main" id="{E256115B-DCBC-50AC-3F0C-D47FBA7712FE}"/>
              </a:ext>
            </a:extLst>
          </p:cNvPr>
          <p:cNvSpPr>
            <a:spLocks noGrp="1" noChangeArrowheads="1"/>
          </p:cNvSpPr>
          <p:nvPr>
            <p:ph type="title"/>
          </p:nvPr>
        </p:nvSpPr>
        <p:spPr bwMode="auto">
          <a:xfrm>
            <a:off x="660041" y="2767106"/>
            <a:ext cx="2880828" cy="307190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lvl="0" eaLnBrk="1" hangingPunct="1"/>
            <a:r>
              <a:rPr lang="en-US" sz="2500" kern="1200" dirty="0">
                <a:solidFill>
                  <a:srgbClr val="FFFFFF"/>
                </a:solidFill>
                <a:latin typeface="Calibri" panose="020F0502020204030204" pitchFamily="34" charset="0"/>
                <a:cs typeface="Calibri" panose="020F0502020204030204" pitchFamily="34" charset="0"/>
              </a:rPr>
              <a:t>Global charts can make hunger seem far away, but food insecurity remains a serious and local challenge in the United States as well.</a:t>
            </a:r>
            <a:endParaRPr kumimoji="0" lang="en-US" altLang="en-US" sz="2500" b="0" i="0" u="none" strike="noStrike" kern="1200" cap="none" normalizeH="0" baseline="0" dirty="0">
              <a:ln>
                <a:noFill/>
              </a:ln>
              <a:solidFill>
                <a:srgbClr val="FFFFFF"/>
              </a:solidFill>
              <a:effectLst/>
              <a:latin typeface="Calibri" panose="020F0502020204030204" pitchFamily="34" charset="0"/>
              <a:cs typeface="Calibri" panose="020F0502020204030204" pitchFamily="34" charset="0"/>
            </a:endParaRPr>
          </a:p>
        </p:txBody>
      </p:sp>
      <p:pic>
        <p:nvPicPr>
          <p:cNvPr id="4" name="Content Placeholder 3">
            <a:extLst>
              <a:ext uri="{FF2B5EF4-FFF2-40B4-BE49-F238E27FC236}">
                <a16:creationId xmlns:a16="http://schemas.microsoft.com/office/drawing/2014/main" id="{FF8D88EE-1841-9BB2-4572-1BE0A84B54A6}"/>
              </a:ext>
            </a:extLst>
          </p:cNvPr>
          <p:cNvPicPr>
            <a:picLocks noGrp="1" noChangeAspect="1"/>
          </p:cNvPicPr>
          <p:nvPr>
            <p:ph idx="1"/>
          </p:nvPr>
        </p:nvPicPr>
        <p:blipFill>
          <a:blip r:embed="rId2"/>
          <a:stretch>
            <a:fillRect/>
          </a:stretch>
        </p:blipFill>
        <p:spPr>
          <a:xfrm>
            <a:off x="4502428" y="981279"/>
            <a:ext cx="7225748" cy="4895442"/>
          </a:xfrm>
          <a:prstGeom prst="rect">
            <a:avLst/>
          </a:prstGeom>
        </p:spPr>
      </p:pic>
    </p:spTree>
    <p:extLst>
      <p:ext uri="{BB962C8B-B14F-4D97-AF65-F5344CB8AC3E}">
        <p14:creationId xmlns:p14="http://schemas.microsoft.com/office/powerpoint/2010/main" val="19773525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AAB128-3AA8-A4D9-D859-30488EBC945E}"/>
              </a:ext>
            </a:extLst>
          </p:cNvPr>
          <p:cNvSpPr>
            <a:spLocks noGrp="1"/>
          </p:cNvSpPr>
          <p:nvPr>
            <p:ph type="title"/>
          </p:nvPr>
        </p:nvSpPr>
        <p:spPr>
          <a:xfrm>
            <a:off x="1371599" y="5510253"/>
            <a:ext cx="9895951" cy="1033669"/>
          </a:xfrm>
        </p:spPr>
        <p:txBody>
          <a:bodyPr vert="horz" lIns="91440" tIns="45720" rIns="91440" bIns="45720" rtlCol="0">
            <a:normAutofit/>
          </a:bodyPr>
          <a:lstStyle/>
          <a:p>
            <a:r>
              <a:rPr lang="en-US" sz="2200" kern="1200" dirty="0">
                <a:solidFill>
                  <a:srgbClr val="FFFFFF"/>
                </a:solidFill>
                <a:latin typeface="Calibri" panose="020F0502020204030204" pitchFamily="34" charset="0"/>
                <a:cs typeface="Calibri" panose="020F0502020204030204" pitchFamily="34" charset="0"/>
              </a:rPr>
              <a:t>From 2014 to 2023, the yearly median food insecurity rate changes over time, but the South, including Texas, Louisiana, and New Mexico, consistently shows higher levels than the rest of the country.</a:t>
            </a:r>
          </a:p>
        </p:txBody>
      </p:sp>
      <p:pic>
        <p:nvPicPr>
          <p:cNvPr id="4" name="plotly_states.mov">
            <a:hlinkClick r:id="" action="ppaction://media"/>
            <a:extLst>
              <a:ext uri="{FF2B5EF4-FFF2-40B4-BE49-F238E27FC236}">
                <a16:creationId xmlns:a16="http://schemas.microsoft.com/office/drawing/2014/main" id="{C355F921-F3BD-265E-1B60-05BE2F6D86C8}"/>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1" y="1332495"/>
            <a:ext cx="12193365" cy="2469153"/>
          </a:xfrm>
          <a:prstGeom prst="rect">
            <a:avLst/>
          </a:prstGeom>
        </p:spPr>
      </p:pic>
    </p:spTree>
    <p:extLst>
      <p:ext uri="{BB962C8B-B14F-4D97-AF65-F5344CB8AC3E}">
        <p14:creationId xmlns:p14="http://schemas.microsoft.com/office/powerpoint/2010/main" val="930798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6440"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1">
            <a:extLst>
              <a:ext uri="{FF2B5EF4-FFF2-40B4-BE49-F238E27FC236}">
                <a16:creationId xmlns:a16="http://schemas.microsoft.com/office/drawing/2014/main" id="{6587E993-9AD1-C5BD-C08C-7F8F1CF54DC9}"/>
              </a:ext>
            </a:extLst>
          </p:cNvPr>
          <p:cNvSpPr>
            <a:spLocks noGrp="1" noChangeArrowheads="1"/>
          </p:cNvSpPr>
          <p:nvPr>
            <p:ph type="title"/>
          </p:nvPr>
        </p:nvSpPr>
        <p:spPr bwMode="auto">
          <a:xfrm>
            <a:off x="699713" y="248038"/>
            <a:ext cx="7063721" cy="115920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lvl="0" fontAlgn="base">
              <a:spcAft>
                <a:spcPct val="0"/>
              </a:spcAft>
            </a:pPr>
            <a:r>
              <a:rPr kumimoji="0" lang="en-US" altLang="en-US" sz="2200" b="0" i="0" u="none" strike="noStrike" kern="1200" cap="none" normalizeH="0" baseline="0" dirty="0">
                <a:ln>
                  <a:noFill/>
                </a:ln>
                <a:solidFill>
                  <a:srgbClr val="FFFFFF"/>
                </a:solidFill>
                <a:effectLst/>
                <a:latin typeface="Calibri" panose="020F0502020204030204" pitchFamily="34" charset="0"/>
                <a:cs typeface="Calibri" panose="020F0502020204030204" pitchFamily="34" charset="0"/>
              </a:rPr>
              <a:t>Both men and women show similar food security patterns, with about 87 percent food secure, 8 percent low food secure, and 4 percent very low food secure.</a:t>
            </a:r>
          </a:p>
        </p:txBody>
      </p:sp>
      <p:pic>
        <p:nvPicPr>
          <p:cNvPr id="4" name="Content Placeholder 3">
            <a:extLst>
              <a:ext uri="{FF2B5EF4-FFF2-40B4-BE49-F238E27FC236}">
                <a16:creationId xmlns:a16="http://schemas.microsoft.com/office/drawing/2014/main" id="{3FE2DC7C-6777-3973-E35D-2FBF0EF4E23E}"/>
              </a:ext>
            </a:extLst>
          </p:cNvPr>
          <p:cNvPicPr>
            <a:picLocks noGrp="1" noChangeAspect="1"/>
          </p:cNvPicPr>
          <p:nvPr>
            <p:ph idx="1"/>
          </p:nvPr>
        </p:nvPicPr>
        <p:blipFill>
          <a:blip r:embed="rId2"/>
          <a:stretch>
            <a:fillRect/>
          </a:stretch>
        </p:blipFill>
        <p:spPr>
          <a:xfrm>
            <a:off x="432225" y="2818907"/>
            <a:ext cx="11327549" cy="2746931"/>
          </a:xfrm>
          <a:prstGeom prst="rect">
            <a:avLst/>
          </a:prstGeom>
        </p:spPr>
      </p:pic>
    </p:spTree>
    <p:extLst>
      <p:ext uri="{BB962C8B-B14F-4D97-AF65-F5344CB8AC3E}">
        <p14:creationId xmlns:p14="http://schemas.microsoft.com/office/powerpoint/2010/main" val="23998842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E880D75-FED5-A0D0-5543-531B35DCE24D}"/>
              </a:ext>
            </a:extLst>
          </p:cNvPr>
          <p:cNvSpPr>
            <a:spLocks noGrp="1"/>
          </p:cNvSpPr>
          <p:nvPr>
            <p:ph type="title"/>
          </p:nvPr>
        </p:nvSpPr>
        <p:spPr>
          <a:xfrm>
            <a:off x="641753" y="2467768"/>
            <a:ext cx="2880828" cy="3544810"/>
          </a:xfrm>
        </p:spPr>
        <p:txBody>
          <a:bodyPr vert="horz" lIns="91440" tIns="45720" rIns="91440" bIns="45720" rtlCol="0" anchor="t">
            <a:noAutofit/>
          </a:bodyPr>
          <a:lstStyle/>
          <a:p>
            <a:r>
              <a:rPr lang="en-US" sz="2400" kern="1200" dirty="0">
                <a:solidFill>
                  <a:srgbClr val="FFFFFF"/>
                </a:solidFill>
                <a:latin typeface="Calibri" panose="020F0502020204030204" pitchFamily="34" charset="0"/>
                <a:cs typeface="Calibri" panose="020F0502020204030204" pitchFamily="34" charset="0"/>
              </a:rPr>
              <a:t>Food security varies significantly by race and ethnicity, with Black, Hispanic, and Other groups experiencing higher levels of low food security compared to Asian and White populations.</a:t>
            </a:r>
          </a:p>
        </p:txBody>
      </p:sp>
      <p:pic>
        <p:nvPicPr>
          <p:cNvPr id="4" name="Content Placeholder 3">
            <a:extLst>
              <a:ext uri="{FF2B5EF4-FFF2-40B4-BE49-F238E27FC236}">
                <a16:creationId xmlns:a16="http://schemas.microsoft.com/office/drawing/2014/main" id="{0B0B16EA-B197-DABE-12EB-3CD857A34BD9}"/>
              </a:ext>
            </a:extLst>
          </p:cNvPr>
          <p:cNvPicPr>
            <a:picLocks noGrp="1" noChangeAspect="1"/>
          </p:cNvPicPr>
          <p:nvPr>
            <p:ph idx="1"/>
          </p:nvPr>
        </p:nvPicPr>
        <p:blipFill>
          <a:blip r:embed="rId2"/>
          <a:stretch>
            <a:fillRect/>
          </a:stretch>
        </p:blipFill>
        <p:spPr>
          <a:xfrm>
            <a:off x="4502428" y="1640627"/>
            <a:ext cx="7225748" cy="3576745"/>
          </a:xfrm>
          <a:prstGeom prst="rect">
            <a:avLst/>
          </a:prstGeom>
        </p:spPr>
      </p:pic>
    </p:spTree>
    <p:extLst>
      <p:ext uri="{BB962C8B-B14F-4D97-AF65-F5344CB8AC3E}">
        <p14:creationId xmlns:p14="http://schemas.microsoft.com/office/powerpoint/2010/main" val="19846168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67FDAF9-8AD1-85C6-9645-6736A7BC16EB}"/>
              </a:ext>
            </a:extLst>
          </p:cNvPr>
          <p:cNvSpPr>
            <a:spLocks noGrp="1"/>
          </p:cNvSpPr>
          <p:nvPr>
            <p:ph type="title"/>
          </p:nvPr>
        </p:nvSpPr>
        <p:spPr>
          <a:xfrm>
            <a:off x="699713" y="132303"/>
            <a:ext cx="7475023" cy="1309702"/>
          </a:xfrm>
        </p:spPr>
        <p:txBody>
          <a:bodyPr vert="horz" lIns="91440" tIns="45720" rIns="91440" bIns="45720" rtlCol="0" anchor="ctr">
            <a:normAutofit fontScale="90000"/>
          </a:bodyPr>
          <a:lstStyle/>
          <a:p>
            <a:r>
              <a:rPr lang="en-US" sz="2400" kern="1200" dirty="0">
                <a:solidFill>
                  <a:srgbClr val="FFFFFF"/>
                </a:solidFill>
                <a:latin typeface="Calibri" panose="020F0502020204030204" pitchFamily="34" charset="0"/>
                <a:cs typeface="Calibri" panose="020F0502020204030204" pitchFamily="34" charset="0"/>
              </a:rPr>
              <a:t>Food security differs by marital status, with married and widowed adults showing the highest food security, while separated and divorced groups experience the highest rates of low and very low food security.</a:t>
            </a:r>
          </a:p>
        </p:txBody>
      </p:sp>
      <p:pic>
        <p:nvPicPr>
          <p:cNvPr id="4" name="Content Placeholder 3">
            <a:extLst>
              <a:ext uri="{FF2B5EF4-FFF2-40B4-BE49-F238E27FC236}">
                <a16:creationId xmlns:a16="http://schemas.microsoft.com/office/drawing/2014/main" id="{09C66DCD-82D1-E835-0D51-C12D1ACBA723}"/>
              </a:ext>
            </a:extLst>
          </p:cNvPr>
          <p:cNvPicPr>
            <a:picLocks noGrp="1" noChangeAspect="1"/>
          </p:cNvPicPr>
          <p:nvPr>
            <p:ph idx="1"/>
          </p:nvPr>
        </p:nvPicPr>
        <p:blipFill>
          <a:blip r:embed="rId2"/>
          <a:stretch>
            <a:fillRect/>
          </a:stretch>
        </p:blipFill>
        <p:spPr>
          <a:xfrm>
            <a:off x="1598869" y="1966293"/>
            <a:ext cx="8994261" cy="4452160"/>
          </a:xfrm>
          <a:prstGeom prst="rect">
            <a:avLst/>
          </a:prstGeom>
        </p:spPr>
      </p:pic>
    </p:spTree>
    <p:extLst>
      <p:ext uri="{BB962C8B-B14F-4D97-AF65-F5344CB8AC3E}">
        <p14:creationId xmlns:p14="http://schemas.microsoft.com/office/powerpoint/2010/main" val="3362274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613F7718-FEDC-53E1-2A0D-9D9E596302C6}"/>
              </a:ext>
            </a:extLst>
          </p:cNvPr>
          <p:cNvSpPr>
            <a:spLocks noGrp="1"/>
          </p:cNvSpPr>
          <p:nvPr>
            <p:ph type="title"/>
          </p:nvPr>
        </p:nvSpPr>
        <p:spPr>
          <a:xfrm>
            <a:off x="354105" y="1489818"/>
            <a:ext cx="3192631" cy="4889470"/>
          </a:xfrm>
        </p:spPr>
        <p:txBody>
          <a:bodyPr vert="horz" lIns="91440" tIns="45720" rIns="91440" bIns="45720" rtlCol="0" anchor="t">
            <a:noAutofit/>
          </a:bodyPr>
          <a:lstStyle/>
          <a:p>
            <a:r>
              <a:rPr lang="en-US" sz="2000" dirty="0">
                <a:solidFill>
                  <a:schemeClr val="bg1"/>
                </a:solidFill>
                <a:latin typeface="Calibri" panose="020F0502020204030204" pitchFamily="34" charset="0"/>
                <a:cs typeface="Calibri" panose="020F0502020204030204" pitchFamily="34" charset="0"/>
              </a:rPr>
              <a:t>- Food security improves with higher levels of education. </a:t>
            </a:r>
            <a:br>
              <a:rPr lang="en-US" sz="2000" dirty="0">
                <a:solidFill>
                  <a:schemeClr val="bg1"/>
                </a:solidFill>
                <a:latin typeface="Calibri" panose="020F0502020204030204" pitchFamily="34" charset="0"/>
                <a:cs typeface="Calibri" panose="020F0502020204030204" pitchFamily="34" charset="0"/>
              </a:rPr>
            </a:br>
            <a:br>
              <a:rPr lang="en-US" sz="2000" dirty="0">
                <a:solidFill>
                  <a:schemeClr val="bg1"/>
                </a:solidFill>
                <a:latin typeface="Calibri" panose="020F0502020204030204" pitchFamily="34" charset="0"/>
                <a:cs typeface="Calibri" panose="020F0502020204030204" pitchFamily="34" charset="0"/>
              </a:rPr>
            </a:br>
            <a:r>
              <a:rPr lang="en-US" sz="2000" dirty="0">
                <a:solidFill>
                  <a:schemeClr val="bg1"/>
                </a:solidFill>
                <a:latin typeface="Calibri" panose="020F0502020204030204" pitchFamily="34" charset="0"/>
                <a:cs typeface="Calibri" panose="020F0502020204030204" pitchFamily="34" charset="0"/>
              </a:rPr>
              <a:t>- However, children from preschool through high school remain the most disadvantaged, experiencing the highest food insecurity during their most formative years.</a:t>
            </a:r>
            <a:endParaRPr lang="en-US" sz="1050" kern="1200" dirty="0">
              <a:solidFill>
                <a:schemeClr val="bg1"/>
              </a:solidFill>
              <a:latin typeface="Calibri" panose="020F0502020204030204" pitchFamily="34" charset="0"/>
              <a:cs typeface="Calibri" panose="020F0502020204030204" pitchFamily="34" charset="0"/>
            </a:endParaRPr>
          </a:p>
        </p:txBody>
      </p:sp>
      <p:pic>
        <p:nvPicPr>
          <p:cNvPr id="4" name="Content Placeholder 3">
            <a:extLst>
              <a:ext uri="{FF2B5EF4-FFF2-40B4-BE49-F238E27FC236}">
                <a16:creationId xmlns:a16="http://schemas.microsoft.com/office/drawing/2014/main" id="{E769B7D8-26FA-97C8-4BDD-CF620DAC9B7C}"/>
              </a:ext>
            </a:extLst>
          </p:cNvPr>
          <p:cNvPicPr>
            <a:picLocks noGrp="1" noChangeAspect="1"/>
          </p:cNvPicPr>
          <p:nvPr>
            <p:ph idx="1"/>
          </p:nvPr>
        </p:nvPicPr>
        <p:blipFill>
          <a:blip r:embed="rId2"/>
          <a:stretch>
            <a:fillRect/>
          </a:stretch>
        </p:blipFill>
        <p:spPr>
          <a:xfrm>
            <a:off x="4502428" y="1640627"/>
            <a:ext cx="7225748" cy="3576745"/>
          </a:xfrm>
          <a:prstGeom prst="rect">
            <a:avLst/>
          </a:prstGeom>
        </p:spPr>
      </p:pic>
    </p:spTree>
    <p:extLst>
      <p:ext uri="{BB962C8B-B14F-4D97-AF65-F5344CB8AC3E}">
        <p14:creationId xmlns:p14="http://schemas.microsoft.com/office/powerpoint/2010/main" val="34148702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Rectangle 2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Freeform: Shape 2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Rectangle 1">
            <a:extLst>
              <a:ext uri="{FF2B5EF4-FFF2-40B4-BE49-F238E27FC236}">
                <a16:creationId xmlns:a16="http://schemas.microsoft.com/office/drawing/2014/main" id="{E54833C9-6E35-BCA0-BBCE-145219B2A119}"/>
              </a:ext>
            </a:extLst>
          </p:cNvPr>
          <p:cNvSpPr>
            <a:spLocks noGrp="1" noChangeArrowheads="1"/>
          </p:cNvSpPr>
          <p:nvPr>
            <p:ph type="title"/>
          </p:nvPr>
        </p:nvSpPr>
        <p:spPr bwMode="auto">
          <a:xfrm>
            <a:off x="653945" y="2501549"/>
            <a:ext cx="2880828" cy="307190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a:bodyPr>
          <a:lstStyle/>
          <a:p>
            <a:pPr marL="0" marR="0" lvl="0" indent="0" fontAlgn="base">
              <a:spcAft>
                <a:spcPct val="0"/>
              </a:spcAft>
              <a:buClrTx/>
              <a:buSzTx/>
              <a:tabLst/>
            </a:pPr>
            <a:r>
              <a:rPr kumimoji="0" lang="en-US" altLang="en-US" sz="2200" b="0" i="0" u="none" strike="noStrike" kern="1200" cap="none" normalizeH="0" baseline="0" dirty="0">
                <a:ln>
                  <a:noFill/>
                </a:ln>
                <a:solidFill>
                  <a:srgbClr val="FFFFFF"/>
                </a:solidFill>
                <a:effectLst/>
                <a:latin typeface="Calibri" panose="020F0502020204030204" pitchFamily="34" charset="0"/>
                <a:cs typeface="Calibri" panose="020F0502020204030204" pitchFamily="34" charset="0"/>
              </a:rPr>
              <a:t>Children experience disproportionately high food insecurity, with age groups 0–17 showing the highest food insecure rates despite making up a smaller share of the total population.</a:t>
            </a:r>
          </a:p>
        </p:txBody>
      </p:sp>
      <p:pic>
        <p:nvPicPr>
          <p:cNvPr id="4" name="Content Placeholder 3">
            <a:extLst>
              <a:ext uri="{FF2B5EF4-FFF2-40B4-BE49-F238E27FC236}">
                <a16:creationId xmlns:a16="http://schemas.microsoft.com/office/drawing/2014/main" id="{D599F882-234A-10ED-B42A-A1BE0CCAE9DF}"/>
              </a:ext>
            </a:extLst>
          </p:cNvPr>
          <p:cNvPicPr>
            <a:picLocks noGrp="1" noChangeAspect="1"/>
          </p:cNvPicPr>
          <p:nvPr>
            <p:ph idx="1"/>
          </p:nvPr>
        </p:nvPicPr>
        <p:blipFill>
          <a:blip r:embed="rId2"/>
          <a:srcRect r="5059"/>
          <a:stretch>
            <a:fillRect/>
          </a:stretch>
        </p:blipFill>
        <p:spPr>
          <a:xfrm>
            <a:off x="4600358" y="467208"/>
            <a:ext cx="7029887" cy="5923584"/>
          </a:xfrm>
          <a:prstGeom prst="rect">
            <a:avLst/>
          </a:prstGeom>
        </p:spPr>
      </p:pic>
    </p:spTree>
    <p:extLst>
      <p:ext uri="{BB962C8B-B14F-4D97-AF65-F5344CB8AC3E}">
        <p14:creationId xmlns:p14="http://schemas.microsoft.com/office/powerpoint/2010/main" val="110597078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E1DD87A6-80F9-E2BC-BCF6-7B0997B569BA}"/>
              </a:ext>
            </a:extLst>
          </p:cNvPr>
          <p:cNvSpPr>
            <a:spLocks noGrp="1"/>
          </p:cNvSpPr>
          <p:nvPr>
            <p:ph type="title"/>
          </p:nvPr>
        </p:nvSpPr>
        <p:spPr>
          <a:xfrm>
            <a:off x="532025" y="1901956"/>
            <a:ext cx="2880828" cy="3071906"/>
          </a:xfrm>
        </p:spPr>
        <p:txBody>
          <a:bodyPr vert="horz" lIns="91440" tIns="45720" rIns="91440" bIns="45720" rtlCol="0" anchor="t">
            <a:normAutofit/>
          </a:bodyPr>
          <a:lstStyle/>
          <a:p>
            <a:r>
              <a:rPr lang="en-US" sz="1900" kern="1200" dirty="0">
                <a:solidFill>
                  <a:srgbClr val="FFFFFF"/>
                </a:solidFill>
                <a:latin typeface="Calibri" panose="020F0502020204030204" pitchFamily="34" charset="0"/>
                <a:cs typeface="Calibri" panose="020F0502020204030204" pitchFamily="34" charset="0"/>
              </a:rPr>
              <a:t>- Food security increases sharply with income</a:t>
            </a:r>
            <a:br>
              <a:rPr lang="en-US" sz="1900" kern="1200" dirty="0">
                <a:solidFill>
                  <a:srgbClr val="FFFFFF"/>
                </a:solidFill>
                <a:latin typeface="Calibri" panose="020F0502020204030204" pitchFamily="34" charset="0"/>
                <a:cs typeface="Calibri" panose="020F0502020204030204" pitchFamily="34" charset="0"/>
              </a:rPr>
            </a:br>
            <a:br>
              <a:rPr lang="en-US" sz="1900" kern="1200" dirty="0">
                <a:solidFill>
                  <a:srgbClr val="FFFFFF"/>
                </a:solidFill>
                <a:latin typeface="Calibri" panose="020F0502020204030204" pitchFamily="34" charset="0"/>
                <a:cs typeface="Calibri" panose="020F0502020204030204" pitchFamily="34" charset="0"/>
              </a:rPr>
            </a:br>
            <a:r>
              <a:rPr lang="en-US" sz="1900" kern="1200" dirty="0">
                <a:solidFill>
                  <a:srgbClr val="FFFFFF"/>
                </a:solidFill>
                <a:latin typeface="Calibri" panose="020F0502020204030204" pitchFamily="34" charset="0"/>
                <a:cs typeface="Calibri" panose="020F0502020204030204" pitchFamily="34" charset="0"/>
              </a:rPr>
              <a:t>- The lowest-income households experience the highest rates of low and very low food security, and </a:t>
            </a:r>
            <a:br>
              <a:rPr lang="en-US" sz="1900" kern="1200" dirty="0">
                <a:solidFill>
                  <a:srgbClr val="FFFFFF"/>
                </a:solidFill>
                <a:latin typeface="Calibri" panose="020F0502020204030204" pitchFamily="34" charset="0"/>
                <a:cs typeface="Calibri" panose="020F0502020204030204" pitchFamily="34" charset="0"/>
              </a:rPr>
            </a:br>
            <a:br>
              <a:rPr lang="en-US" sz="1900" kern="1200" dirty="0">
                <a:solidFill>
                  <a:srgbClr val="FFFFFF"/>
                </a:solidFill>
                <a:latin typeface="Calibri" panose="020F0502020204030204" pitchFamily="34" charset="0"/>
                <a:cs typeface="Calibri" panose="020F0502020204030204" pitchFamily="34" charset="0"/>
              </a:rPr>
            </a:br>
            <a:r>
              <a:rPr lang="en-US" sz="1900" kern="1200" dirty="0">
                <a:solidFill>
                  <a:srgbClr val="FFFFFF"/>
                </a:solidFill>
                <a:latin typeface="Calibri" panose="020F0502020204030204" pitchFamily="34" charset="0"/>
                <a:cs typeface="Calibri" panose="020F0502020204030204" pitchFamily="34" charset="0"/>
              </a:rPr>
              <a:t>- Households earning $75,000 or more showing strong food security levels.</a:t>
            </a:r>
          </a:p>
        </p:txBody>
      </p:sp>
      <p:pic>
        <p:nvPicPr>
          <p:cNvPr id="4" name="Content Placeholder 3">
            <a:extLst>
              <a:ext uri="{FF2B5EF4-FFF2-40B4-BE49-F238E27FC236}">
                <a16:creationId xmlns:a16="http://schemas.microsoft.com/office/drawing/2014/main" id="{2B522A21-628D-E06F-A935-61A01337E771}"/>
              </a:ext>
            </a:extLst>
          </p:cNvPr>
          <p:cNvPicPr>
            <a:picLocks noGrp="1" noChangeAspect="1"/>
          </p:cNvPicPr>
          <p:nvPr>
            <p:ph idx="1"/>
          </p:nvPr>
        </p:nvPicPr>
        <p:blipFill>
          <a:blip r:embed="rId2"/>
          <a:stretch>
            <a:fillRect/>
          </a:stretch>
        </p:blipFill>
        <p:spPr>
          <a:xfrm>
            <a:off x="4502428" y="1026439"/>
            <a:ext cx="7225748" cy="4805122"/>
          </a:xfrm>
          <a:prstGeom prst="rect">
            <a:avLst/>
          </a:prstGeom>
        </p:spPr>
      </p:pic>
    </p:spTree>
    <p:extLst>
      <p:ext uri="{BB962C8B-B14F-4D97-AF65-F5344CB8AC3E}">
        <p14:creationId xmlns:p14="http://schemas.microsoft.com/office/powerpoint/2010/main" val="1773951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094143F5-E233-F025-7F96-C6A334476FF8}"/>
              </a:ext>
            </a:extLst>
          </p:cNvPr>
          <p:cNvSpPr>
            <a:spLocks noGrp="1"/>
          </p:cNvSpPr>
          <p:nvPr>
            <p:ph type="title"/>
          </p:nvPr>
        </p:nvSpPr>
        <p:spPr>
          <a:xfrm>
            <a:off x="635657" y="2608610"/>
            <a:ext cx="2880828" cy="3071906"/>
          </a:xfrm>
        </p:spPr>
        <p:txBody>
          <a:bodyPr vert="horz" lIns="91440" tIns="45720" rIns="91440" bIns="45720" rtlCol="0" anchor="t">
            <a:normAutofit/>
          </a:bodyPr>
          <a:lstStyle/>
          <a:p>
            <a:r>
              <a:rPr lang="en-US" sz="2200" kern="1200" dirty="0">
                <a:solidFill>
                  <a:srgbClr val="FFFFFF"/>
                </a:solidFill>
                <a:latin typeface="Calibri" panose="020F0502020204030204" pitchFamily="34" charset="0"/>
                <a:cs typeface="Calibri" panose="020F0502020204030204" pitchFamily="34" charset="0"/>
              </a:rPr>
              <a:t>Food insecurity decreases as poverty levels improve, with the lowest-income households facing the highest rates of both hunger and severe malnutrition.</a:t>
            </a:r>
          </a:p>
        </p:txBody>
      </p:sp>
      <p:pic>
        <p:nvPicPr>
          <p:cNvPr id="4" name="Content Placeholder 3">
            <a:extLst>
              <a:ext uri="{FF2B5EF4-FFF2-40B4-BE49-F238E27FC236}">
                <a16:creationId xmlns:a16="http://schemas.microsoft.com/office/drawing/2014/main" id="{41CA687F-19B8-503A-1149-4EF5F1A1FC4A}"/>
              </a:ext>
            </a:extLst>
          </p:cNvPr>
          <p:cNvPicPr>
            <a:picLocks noGrp="1" noChangeAspect="1"/>
          </p:cNvPicPr>
          <p:nvPr>
            <p:ph idx="1"/>
          </p:nvPr>
        </p:nvPicPr>
        <p:blipFill>
          <a:blip r:embed="rId2"/>
          <a:stretch>
            <a:fillRect/>
          </a:stretch>
        </p:blipFill>
        <p:spPr>
          <a:xfrm>
            <a:off x="4502428" y="1026439"/>
            <a:ext cx="7225748" cy="4805122"/>
          </a:xfrm>
          <a:prstGeom prst="rect">
            <a:avLst/>
          </a:prstGeom>
        </p:spPr>
      </p:pic>
    </p:spTree>
    <p:extLst>
      <p:ext uri="{BB962C8B-B14F-4D97-AF65-F5344CB8AC3E}">
        <p14:creationId xmlns:p14="http://schemas.microsoft.com/office/powerpoint/2010/main" val="2889003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11267D0D-B736-58A8-8683-F83F32EB9073}"/>
              </a:ext>
            </a:extLst>
          </p:cNvPr>
          <p:cNvSpPr>
            <a:spLocks noGrp="1"/>
          </p:cNvSpPr>
          <p:nvPr>
            <p:ph type="title"/>
          </p:nvPr>
        </p:nvSpPr>
        <p:spPr>
          <a:xfrm>
            <a:off x="1383564" y="348865"/>
            <a:ext cx="9718111" cy="1576446"/>
          </a:xfrm>
        </p:spPr>
        <p:txBody>
          <a:bodyPr anchor="ctr">
            <a:normAutofit/>
          </a:bodyPr>
          <a:lstStyle/>
          <a:p>
            <a:r>
              <a:rPr lang="en-US" sz="3400" b="1">
                <a:solidFill>
                  <a:srgbClr val="FFFFFF"/>
                </a:solidFill>
              </a:rPr>
              <a:t>Immediate Need for Policy and Legislative Action</a:t>
            </a:r>
            <a:br>
              <a:rPr lang="en-US" sz="3400" b="1">
                <a:solidFill>
                  <a:srgbClr val="FFFFFF"/>
                </a:solidFill>
              </a:rPr>
            </a:br>
            <a:endParaRPr lang="en-US" sz="3400">
              <a:solidFill>
                <a:srgbClr val="FFFFFF"/>
              </a:solidFill>
            </a:endParaRPr>
          </a:p>
        </p:txBody>
      </p:sp>
      <p:graphicFrame>
        <p:nvGraphicFramePr>
          <p:cNvPr id="5" name="Content Placeholder 2">
            <a:extLst>
              <a:ext uri="{FF2B5EF4-FFF2-40B4-BE49-F238E27FC236}">
                <a16:creationId xmlns:a16="http://schemas.microsoft.com/office/drawing/2014/main" id="{EF0F32A0-1246-7215-3A15-389FE84B44B4}"/>
              </a:ext>
            </a:extLst>
          </p:cNvPr>
          <p:cNvGraphicFramePr>
            <a:graphicFrameLocks noGrp="1"/>
          </p:cNvGraphicFramePr>
          <p:nvPr>
            <p:ph idx="1"/>
            <p:extLst>
              <p:ext uri="{D42A27DB-BD31-4B8C-83A1-F6EECF244321}">
                <p14:modId xmlns:p14="http://schemas.microsoft.com/office/powerpoint/2010/main" val="4249338197"/>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68107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TotalTime>
  <Words>409</Words>
  <Application>Microsoft Macintosh PowerPoint</Application>
  <PresentationFormat>Widescreen</PresentationFormat>
  <Paragraphs>13</Paragraphs>
  <Slides>11</Slides>
  <Notes>0</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Calibri</vt:lpstr>
      <vt:lpstr>Office Theme</vt:lpstr>
      <vt:lpstr>Food Insecurity in the United States</vt:lpstr>
      <vt:lpstr>Global charts can make hunger seem far away, but food insecurity remains a serious and local challenge in the United States as well.</vt:lpstr>
      <vt:lpstr>From 2014 to 2023, the yearly median food insecurity rate changes over time, but the South, including Texas, Louisiana, and New Mexico, consistently shows higher levels than the rest of the country.</vt:lpstr>
      <vt:lpstr>Both men and women show similar food security patterns, with about 87 percent food secure, 8 percent low food secure, and 4 percent very low food secure.</vt:lpstr>
      <vt:lpstr>Food security varies significantly by race and ethnicity, with Black, Hispanic, and Other groups experiencing higher levels of low food security compared to Asian and White populations.</vt:lpstr>
      <vt:lpstr>Food security differs by marital status, with married and widowed adults showing the highest food security, while separated and divorced groups experience the highest rates of low and very low food security.</vt:lpstr>
      <vt:lpstr>- Food security improves with higher levels of education.   - However, children from preschool through high school remain the most disadvantaged, experiencing the highest food insecurity during their most formative years.</vt:lpstr>
      <vt:lpstr>Children experience disproportionately high food insecurity, with age groups 0–17 showing the highest food insecure rates despite making up a smaller share of the total population.</vt:lpstr>
      <vt:lpstr>- Food security increases sharply with income  - The lowest-income households experience the highest rates of low and very low food security, and   - Households earning $75,000 or more showing strong food security levels.</vt:lpstr>
      <vt:lpstr>Food insecurity decreases as poverty levels improve, with the lowest-income households facing the highest rates of both hunger and severe malnutrition.</vt:lpstr>
      <vt:lpstr>Immediate Need for Policy and Legislative Action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Cruz</dc:creator>
  <cp:lastModifiedBy>John Cruz</cp:lastModifiedBy>
  <cp:revision>4</cp:revision>
  <dcterms:created xsi:type="dcterms:W3CDTF">2025-12-01T04:32:56Z</dcterms:created>
  <dcterms:modified xsi:type="dcterms:W3CDTF">2025-12-01T05:52:16Z</dcterms:modified>
</cp:coreProperties>
</file>
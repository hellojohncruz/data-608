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58" r:id="rId5"/>
    <p:sldId id="259" r:id="rId6"/>
    <p:sldId id="260" r:id="rId7"/>
    <p:sldId id="261"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94637"/>
  </p:normalViewPr>
  <p:slideViewPr>
    <p:cSldViewPr snapToGrid="0">
      <p:cViewPr varScale="1">
        <p:scale>
          <a:sx n="204" d="100"/>
          <a:sy n="204" d="100"/>
        </p:scale>
        <p:origin x="23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2946-E74A-638B-31D9-C6A139C3F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297373-2510-ED61-553D-C095518A9B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8AB442-7F08-912D-F3DC-7BAF21DD6B6F}"/>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835311E3-AD8C-E98C-50FA-75C2464C4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413709-EC30-22FF-3417-B299AE05E414}"/>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3768453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F823-2950-6E6C-2E27-02ED1FC759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927B0-1204-C571-E3FF-91955FD5B0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0F912-73A2-DA92-A127-05A2962E08AC}"/>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165C1705-8D8A-1D91-486F-889DE7B71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9C915-170C-6811-5A79-EDF07F99C2E1}"/>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2694552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27D7-412C-80D7-034B-0B433093F1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87EA8E-2626-7997-A670-816359C7BF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1CBC58-DC4E-AA53-FA9F-7DAB18BEB6BA}"/>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61EFB00D-ACA4-824B-0F88-9528B0741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973AB0-06A3-FC54-AA55-77100BA5A5D8}"/>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2248845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2A327-9B69-E3FE-560E-E860976FF8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3D5EDD-4382-C7E5-3548-EAAEE69C38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942754-C305-46C1-AD82-418906D031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1DE4B5-4A44-ED4A-1F22-70065369BB19}"/>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6" name="Footer Placeholder 5">
            <a:extLst>
              <a:ext uri="{FF2B5EF4-FFF2-40B4-BE49-F238E27FC236}">
                <a16:creationId xmlns:a16="http://schemas.microsoft.com/office/drawing/2014/main" id="{35F6EA04-16A5-4335-5BA1-F50B03DBAB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3A7B9D-921D-1D15-FEA3-0D3508428B38}"/>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910730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A77F-FB04-9097-CBEC-9A9DF69DC6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EE7861-BECA-3AB1-F668-8ECE7EA23F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F34269-2A40-B7BF-EB96-04FC129EE6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1D3BA7-3D68-007A-939E-84B2A534CC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83BCC-3142-CF21-1542-6ACAF60690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D5CABB-4085-7FA1-D44D-ACD7BDEEB8CD}"/>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8" name="Footer Placeholder 7">
            <a:extLst>
              <a:ext uri="{FF2B5EF4-FFF2-40B4-BE49-F238E27FC236}">
                <a16:creationId xmlns:a16="http://schemas.microsoft.com/office/drawing/2014/main" id="{73BA0AF2-B08E-B1C6-D2EC-345427B861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046C04-EDDF-A19B-7843-D3E4426A415D}"/>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85538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8BFA-1435-4A46-D334-27B331EE0D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2F727B-8647-4828-7869-32A1188BE322}"/>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4" name="Footer Placeholder 3">
            <a:extLst>
              <a:ext uri="{FF2B5EF4-FFF2-40B4-BE49-F238E27FC236}">
                <a16:creationId xmlns:a16="http://schemas.microsoft.com/office/drawing/2014/main" id="{DECEC728-0C35-6D52-E3CC-FCD73F9B80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176134-BC73-0D01-B4C5-6A7E79AE8052}"/>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2533987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EEFC7-0DB8-2E2E-2376-6B9F93D1E311}"/>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3" name="Footer Placeholder 2">
            <a:extLst>
              <a:ext uri="{FF2B5EF4-FFF2-40B4-BE49-F238E27FC236}">
                <a16:creationId xmlns:a16="http://schemas.microsoft.com/office/drawing/2014/main" id="{27C4B765-8F94-EA6C-783D-6C406FC576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66FD7B-F2AF-D577-D7C4-597355B8ED37}"/>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4024509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B0140-4827-1ECA-F25C-77C8437275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25CE2E-58DC-4647-A75C-C455B5072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44F726-67E9-AC1A-423C-DCDF6AEA9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065C3F-FBB5-3AE0-B7EB-D236938788CD}"/>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6" name="Footer Placeholder 5">
            <a:extLst>
              <a:ext uri="{FF2B5EF4-FFF2-40B4-BE49-F238E27FC236}">
                <a16:creationId xmlns:a16="http://schemas.microsoft.com/office/drawing/2014/main" id="{555D9C92-DDBF-C063-89B4-C28289275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BAD63-2DDD-5A29-A193-6D059BB9A124}"/>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3422388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5AA6F-FB6F-146F-5BB4-A1FF0AE788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B19459-9FA8-45D1-A885-CF845C5EFE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EBCBCC-67B0-31B3-37B9-D8A05066E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02A1FD-E59C-CCB9-A0B0-9D3CB47B6518}"/>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6" name="Footer Placeholder 5">
            <a:extLst>
              <a:ext uri="{FF2B5EF4-FFF2-40B4-BE49-F238E27FC236}">
                <a16:creationId xmlns:a16="http://schemas.microsoft.com/office/drawing/2014/main" id="{1BF1214F-6AAD-2126-90E6-C59522990A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4F13E-E3F7-5D8F-3BA4-6769FCC8280D}"/>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3741774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B6296-CAE8-174F-86B4-EF0C6BD827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C05DA8-64AB-E31C-BC26-8E8EB2A7A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3CD415-4593-4576-5B0F-15A1B8C76D95}"/>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EBECD0B2-C04F-8891-DF26-1A8D12885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6D23FD-7AFD-26F5-456E-5E886362FC77}"/>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2446436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E60AEA-C443-8448-CBDE-0D2D52C529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494BD8-9DF1-8172-0A6C-8FD9675C16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93DE1-6D99-ED1F-AA42-33C353AD4813}"/>
              </a:ext>
            </a:extLst>
          </p:cNvPr>
          <p:cNvSpPr>
            <a:spLocks noGrp="1"/>
          </p:cNvSpPr>
          <p:nvPr>
            <p:ph type="dt" sz="half" idx="10"/>
          </p:nvPr>
        </p:nvSpPr>
        <p:spPr/>
        <p:txBody>
          <a:body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4D43AA27-F964-C9C4-92AD-AA6840016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14AF33-7124-598D-7638-89FA881EB873}"/>
              </a:ext>
            </a:extLst>
          </p:cNvPr>
          <p:cNvSpPr>
            <a:spLocks noGrp="1"/>
          </p:cNvSpPr>
          <p:nvPr>
            <p:ph type="sldNum" sz="quarter" idx="12"/>
          </p:nvPr>
        </p:nvSpPr>
        <p:spPr/>
        <p:txBody>
          <a:bodyPr/>
          <a:lstStyle/>
          <a:p>
            <a:fld id="{1A8EF79B-1007-9840-8AD6-2895FC651268}" type="slidenum">
              <a:rPr lang="en-US" smtClean="0"/>
              <a:t>‹#›</a:t>
            </a:fld>
            <a:endParaRPr lang="en-US"/>
          </a:p>
        </p:txBody>
      </p:sp>
    </p:spTree>
    <p:extLst>
      <p:ext uri="{BB962C8B-B14F-4D97-AF65-F5344CB8AC3E}">
        <p14:creationId xmlns:p14="http://schemas.microsoft.com/office/powerpoint/2010/main" val="171070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66550D-5422-32BA-39F1-43DA4FF742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B0F10C-9C8B-19CD-C320-52BDEA9BB9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B8463B-E043-514E-A027-2974E5CE8D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BA33D9-76DA-D345-8628-6E8912F7C1E6}" type="datetimeFigureOut">
              <a:rPr lang="en-US" smtClean="0"/>
              <a:t>12/14/25</a:t>
            </a:fld>
            <a:endParaRPr lang="en-US"/>
          </a:p>
        </p:txBody>
      </p:sp>
      <p:sp>
        <p:nvSpPr>
          <p:cNvPr id="5" name="Footer Placeholder 4">
            <a:extLst>
              <a:ext uri="{FF2B5EF4-FFF2-40B4-BE49-F238E27FC236}">
                <a16:creationId xmlns:a16="http://schemas.microsoft.com/office/drawing/2014/main" id="{579B9CFE-0ABC-6285-71B9-37064A37CB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6B78FB-ACB2-2EE5-1252-6DAD8132A4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8EF79B-1007-9840-8AD6-2895FC651268}" type="slidenum">
              <a:rPr lang="en-US" smtClean="0"/>
              <a:t>‹#›</a:t>
            </a:fld>
            <a:endParaRPr lang="en-US"/>
          </a:p>
        </p:txBody>
      </p:sp>
    </p:spTree>
    <p:extLst>
      <p:ext uri="{BB962C8B-B14F-4D97-AF65-F5344CB8AC3E}">
        <p14:creationId xmlns:p14="http://schemas.microsoft.com/office/powerpoint/2010/main" val="820520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usgs.gov/centers/national-minerals-information-center/titanium-statistics-and-information" TargetMode="External"/><Relationship Id="rId2" Type="http://schemas.openxmlformats.org/officeDocument/2006/relationships/hyperlink" Target="https://www.energy.gov/cmm/what-are-critical-materials-and-critical-minerals" TargetMode="External"/><Relationship Id="rId1" Type="http://schemas.openxmlformats.org/officeDocument/2006/relationships/slideLayout" Target="../slideLayouts/slideLayout2.xml"/><Relationship Id="rId5" Type="http://schemas.openxmlformats.org/officeDocument/2006/relationships/hyperlink" Target="https://pubs.usgs.gov/periodicals/mcs2022/" TargetMode="External"/><Relationship Id="rId4" Type="http://schemas.openxmlformats.org/officeDocument/2006/relationships/hyperlink" Target="https://www.usgs.gov/news/national-news-release/us-geological-survey-releases-2022-list-critical-miner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C3458E-4814-26F5-E5B7-C3F7BC89C31E}"/>
              </a:ext>
            </a:extLst>
          </p:cNvPr>
          <p:cNvSpPr>
            <a:spLocks noGrp="1"/>
          </p:cNvSpPr>
          <p:nvPr>
            <p:ph type="ctrTitle"/>
          </p:nvPr>
        </p:nvSpPr>
        <p:spPr>
          <a:xfrm>
            <a:off x="1285241" y="1008993"/>
            <a:ext cx="9231410" cy="3542045"/>
          </a:xfrm>
        </p:spPr>
        <p:txBody>
          <a:bodyPr vert="horz" lIns="91440" tIns="45720" rIns="91440" bIns="45720" rtlCol="0" anchor="b">
            <a:normAutofit/>
          </a:bodyPr>
          <a:lstStyle/>
          <a:p>
            <a:pPr algn="l"/>
            <a:r>
              <a:rPr lang="en-US" sz="7200"/>
              <a:t>United States and its Dependency on Critical Minerals - 2022</a:t>
            </a:r>
          </a:p>
        </p:txBody>
      </p:sp>
    </p:spTree>
    <p:extLst>
      <p:ext uri="{BB962C8B-B14F-4D97-AF65-F5344CB8AC3E}">
        <p14:creationId xmlns:p14="http://schemas.microsoft.com/office/powerpoint/2010/main" val="2809506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FFAE75E-01DE-75DA-F697-98AB5A76C97E}"/>
              </a:ext>
            </a:extLst>
          </p:cNvPr>
          <p:cNvPicPr>
            <a:picLocks noChangeAspect="1"/>
          </p:cNvPicPr>
          <p:nvPr/>
        </p:nvPicPr>
        <p:blipFill>
          <a:blip r:embed="rId2"/>
          <a:stretch>
            <a:fillRect/>
          </a:stretch>
        </p:blipFill>
        <p:spPr>
          <a:xfrm>
            <a:off x="1582163" y="623275"/>
            <a:ext cx="4668561" cy="5607882"/>
          </a:xfrm>
          <a:prstGeom prst="rect">
            <a:avLst/>
          </a:prstGeom>
        </p:spPr>
      </p:pic>
      <p:sp>
        <p:nvSpPr>
          <p:cNvPr id="18" name="Right Triangle 1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49B92C48-C06C-8AC2-5C8F-527437BED982}"/>
              </a:ext>
            </a:extLst>
          </p:cNvPr>
          <p:cNvSpPr>
            <a:spLocks noGrp="1" noChangeArrowheads="1"/>
          </p:cNvSpPr>
          <p:nvPr>
            <p:ph type="title"/>
          </p:nvPr>
        </p:nvSpPr>
        <p:spPr bwMode="auto">
          <a:xfrm>
            <a:off x="8052497" y="1056640"/>
            <a:ext cx="3197660" cy="31257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R="0" lvl="0" fontAlgn="base">
              <a:spcAft>
                <a:spcPct val="0"/>
              </a:spcAft>
              <a:buClrTx/>
              <a:buSzTx/>
              <a:tabLst/>
            </a:pPr>
            <a:r>
              <a:rPr kumimoji="0" lang="en-US" altLang="en-US" sz="1800" b="1" i="0" u="none" strike="noStrike" kern="1200" cap="none" normalizeH="0" baseline="0">
                <a:ln>
                  <a:noFill/>
                </a:ln>
                <a:solidFill>
                  <a:schemeClr val="tx1"/>
                </a:solidFill>
                <a:effectLst/>
                <a:latin typeface="+mj-lt"/>
                <a:ea typeface="+mj-ea"/>
                <a:cs typeface="+mj-cs"/>
              </a:rPr>
              <a:t>The United States imports many minerals from around the world and relies on both ally nations and geopolitically contentious countries. </a:t>
            </a:r>
            <a:br>
              <a:rPr kumimoji="0" lang="en-US" altLang="en-US" sz="1800" b="0" i="0" u="none" strike="noStrike" kern="1200" cap="none" normalizeH="0" baseline="0">
                <a:ln>
                  <a:noFill/>
                </a:ln>
                <a:solidFill>
                  <a:schemeClr val="tx1"/>
                </a:solidFill>
                <a:effectLst/>
                <a:latin typeface="+mj-lt"/>
                <a:ea typeface="+mj-ea"/>
                <a:cs typeface="+mj-cs"/>
              </a:rPr>
            </a:br>
            <a:br>
              <a:rPr kumimoji="0" lang="en-US" altLang="en-US" sz="1800" b="0" i="0" u="none" strike="noStrike" kern="1200" cap="none" normalizeH="0" baseline="0">
                <a:ln>
                  <a:noFill/>
                </a:ln>
                <a:solidFill>
                  <a:schemeClr val="tx1"/>
                </a:solidFill>
                <a:effectLst/>
                <a:latin typeface="+mj-lt"/>
                <a:ea typeface="+mj-ea"/>
                <a:cs typeface="+mj-cs"/>
              </a:rPr>
            </a:br>
            <a:r>
              <a:rPr kumimoji="0" lang="en-US" altLang="en-US" sz="1800" b="0" i="0" u="none" strike="noStrike" kern="1200" cap="none" normalizeH="0" baseline="0">
                <a:ln>
                  <a:noFill/>
                </a:ln>
                <a:solidFill>
                  <a:schemeClr val="tx1"/>
                </a:solidFill>
                <a:effectLst/>
                <a:latin typeface="+mj-lt"/>
                <a:ea typeface="+mj-ea"/>
                <a:cs typeface="+mj-cs"/>
              </a:rPr>
              <a:t>- At the top of this list is titanium. Approximately 95% of titanium is consumed in the form of titanium dioxide (TiO₂), a white pigment widely used in paints, paper, and plastics.</a:t>
            </a:r>
          </a:p>
        </p:txBody>
      </p:sp>
    </p:spTree>
    <p:extLst>
      <p:ext uri="{BB962C8B-B14F-4D97-AF65-F5344CB8AC3E}">
        <p14:creationId xmlns:p14="http://schemas.microsoft.com/office/powerpoint/2010/main" val="2630506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0EE5942-D354-7A8E-9884-976D12948D13}"/>
              </a:ext>
            </a:extLst>
          </p:cNvPr>
          <p:cNvPicPr>
            <a:picLocks noChangeAspect="1"/>
          </p:cNvPicPr>
          <p:nvPr/>
        </p:nvPicPr>
        <p:blipFill>
          <a:blip r:embed="rId2"/>
          <a:stretch>
            <a:fillRect/>
          </a:stretch>
        </p:blipFill>
        <p:spPr>
          <a:xfrm>
            <a:off x="1024556" y="623275"/>
            <a:ext cx="4668561" cy="5607882"/>
          </a:xfrm>
          <a:prstGeom prst="rect">
            <a:avLst/>
          </a:prstGeom>
        </p:spPr>
      </p:pic>
      <p:sp>
        <p:nvSpPr>
          <p:cNvPr id="16" name="Right Triangle 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a:extLst>
              <a:ext uri="{FF2B5EF4-FFF2-40B4-BE49-F238E27FC236}">
                <a16:creationId xmlns:a16="http://schemas.microsoft.com/office/drawing/2014/main" id="{AA95CFDF-3BAF-0640-CAD4-939FA6D4969B}"/>
              </a:ext>
            </a:extLst>
          </p:cNvPr>
          <p:cNvSpPr>
            <a:spLocks noGrp="1" noChangeArrowheads="1"/>
          </p:cNvSpPr>
          <p:nvPr>
            <p:ph type="title"/>
          </p:nvPr>
        </p:nvSpPr>
        <p:spPr bwMode="auto">
          <a:xfrm>
            <a:off x="6889833" y="1056640"/>
            <a:ext cx="4360324" cy="34943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fontAlgn="base">
              <a:spcAft>
                <a:spcPct val="0"/>
              </a:spcAft>
              <a:buClrTx/>
              <a:buSzTx/>
              <a:tabLst/>
            </a:pPr>
            <a:r>
              <a:rPr kumimoji="0" lang="en-US" altLang="en-US" sz="1800" b="1" i="0" u="none" strike="noStrike" kern="1200" cap="none" normalizeH="0" baseline="0">
                <a:ln>
                  <a:noFill/>
                </a:ln>
                <a:solidFill>
                  <a:schemeClr val="tx1"/>
                </a:solidFill>
                <a:effectLst/>
                <a:latin typeface="+mj-lt"/>
                <a:ea typeface="+mj-ea"/>
                <a:cs typeface="+mj-cs"/>
              </a:rPr>
              <a:t>Many critical minerals have extreme single-supplier concentration</a:t>
            </a:r>
          </a:p>
          <a:p>
            <a:pPr marL="0" marR="0" lvl="0" indent="0" fontAlgn="base">
              <a:spcAft>
                <a:spcPct val="0"/>
              </a:spcAft>
              <a:buClrTx/>
              <a:buSzTx/>
              <a:tabLst/>
            </a:pPr>
            <a:br>
              <a:rPr kumimoji="0" lang="en-US" altLang="en-US" sz="1800" i="0" u="none" strike="noStrike" kern="1200" cap="none" normalizeH="0" baseline="0">
                <a:ln>
                  <a:noFill/>
                </a:ln>
                <a:solidFill>
                  <a:schemeClr val="tx1"/>
                </a:solidFill>
                <a:effectLst/>
                <a:latin typeface="+mj-lt"/>
                <a:ea typeface="+mj-ea"/>
                <a:cs typeface="+mj-cs"/>
              </a:rPr>
            </a:br>
            <a:r>
              <a:rPr kumimoji="0" lang="en-US" altLang="en-US" sz="1800" i="0" u="none" strike="noStrike" kern="1200" cap="none" normalizeH="0" baseline="0">
                <a:ln>
                  <a:noFill/>
                </a:ln>
                <a:solidFill>
                  <a:schemeClr val="tx1"/>
                </a:solidFill>
                <a:effectLst/>
                <a:latin typeface="+mj-lt"/>
                <a:ea typeface="+mj-ea"/>
                <a:cs typeface="+mj-cs"/>
              </a:rPr>
              <a:t>- A large cluster of rare earth elements sit around ~78% top supplier share.</a:t>
            </a:r>
            <a:br>
              <a:rPr kumimoji="0" lang="en-US" altLang="en-US" sz="1800" i="0" u="none" strike="noStrike" kern="1200" cap="none" normalizeH="0" baseline="0">
                <a:ln>
                  <a:noFill/>
                </a:ln>
                <a:solidFill>
                  <a:schemeClr val="tx1"/>
                </a:solidFill>
                <a:effectLst/>
                <a:latin typeface="+mj-lt"/>
                <a:ea typeface="+mj-ea"/>
                <a:cs typeface="+mj-cs"/>
              </a:rPr>
            </a:br>
            <a:r>
              <a:rPr kumimoji="0" lang="en-US" altLang="en-US" sz="1800" i="0" u="none" strike="noStrike" kern="1200" cap="none" normalizeH="0" baseline="0">
                <a:ln>
                  <a:noFill/>
                </a:ln>
                <a:solidFill>
                  <a:schemeClr val="tx1"/>
                </a:solidFill>
                <a:effectLst/>
                <a:latin typeface="+mj-lt"/>
                <a:ea typeface="+mj-ea"/>
                <a:cs typeface="+mj-cs"/>
              </a:rPr>
              <a:t>- That means roughly three-quarters of U.S. imports for each of those minerals come from one country.</a:t>
            </a:r>
          </a:p>
          <a:p>
            <a:pPr marL="0" marR="0" lvl="0" indent="0" fontAlgn="base">
              <a:spcAft>
                <a:spcPct val="0"/>
              </a:spcAft>
              <a:buClrTx/>
              <a:buSzTx/>
              <a:tabLst/>
            </a:pPr>
            <a:r>
              <a:rPr kumimoji="0" lang="en-US" altLang="en-US" sz="1800" i="0" u="none" strike="noStrike" kern="1200" cap="none" normalizeH="0" baseline="0">
                <a:ln>
                  <a:noFill/>
                </a:ln>
                <a:solidFill>
                  <a:schemeClr val="tx1"/>
                </a:solidFill>
                <a:effectLst/>
                <a:latin typeface="+mj-lt"/>
                <a:ea typeface="+mj-ea"/>
                <a:cs typeface="+mj-cs"/>
              </a:rPr>
              <a:t> - This is classic single-point-of-failure risk, even before geopolitics enters the picture.</a:t>
            </a:r>
          </a:p>
          <a:p>
            <a:pPr marL="0" marR="0" lvl="0" indent="0" fontAlgn="base">
              <a:spcAft>
                <a:spcPct val="0"/>
              </a:spcAft>
              <a:buClrTx/>
              <a:buSzTx/>
              <a:tabLst/>
            </a:pPr>
            <a:endParaRPr kumimoji="0" lang="en-US" altLang="en-US" sz="1800" i="0" u="none" strike="noStrike" kern="1200" cap="none" normalizeH="0" baseline="0">
              <a:ln>
                <a:noFill/>
              </a:ln>
              <a:solidFill>
                <a:schemeClr val="tx1"/>
              </a:solidFill>
              <a:effectLst/>
              <a:latin typeface="+mj-lt"/>
              <a:ea typeface="+mj-ea"/>
              <a:cs typeface="+mj-cs"/>
            </a:endParaRPr>
          </a:p>
        </p:txBody>
      </p:sp>
    </p:spTree>
    <p:extLst>
      <p:ext uri="{BB962C8B-B14F-4D97-AF65-F5344CB8AC3E}">
        <p14:creationId xmlns:p14="http://schemas.microsoft.com/office/powerpoint/2010/main" val="400428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866E731-538D-57E4-D1EA-DC5C6FC3FC0F}"/>
              </a:ext>
            </a:extLst>
          </p:cNvPr>
          <p:cNvPicPr>
            <a:picLocks noChangeAspect="1"/>
          </p:cNvPicPr>
          <p:nvPr/>
        </p:nvPicPr>
        <p:blipFill>
          <a:blip r:embed="rId2"/>
          <a:stretch>
            <a:fillRect/>
          </a:stretch>
        </p:blipFill>
        <p:spPr>
          <a:xfrm>
            <a:off x="621675" y="1755122"/>
            <a:ext cx="6589537" cy="3344188"/>
          </a:xfrm>
          <a:prstGeom prst="rect">
            <a:avLst/>
          </a:prstGeom>
        </p:spPr>
      </p:pic>
      <p:sp>
        <p:nvSpPr>
          <p:cNvPr id="18" name="Right Triangle 1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6A9CD9-2617-2236-AA3A-8DA5B26FA475}"/>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2300" kern="1200">
                <a:solidFill>
                  <a:schemeClr val="tx1"/>
                </a:solidFill>
                <a:latin typeface="+mj-lt"/>
                <a:ea typeface="+mj-ea"/>
                <a:cs typeface="+mj-cs"/>
              </a:rPr>
              <a:t>Here we see that the United States sources critical minerals from around the world, with particularly strong reliance on neighboring countries such as Canada and Mexico.</a:t>
            </a:r>
          </a:p>
        </p:txBody>
      </p:sp>
    </p:spTree>
    <p:extLst>
      <p:ext uri="{BB962C8B-B14F-4D97-AF65-F5344CB8AC3E}">
        <p14:creationId xmlns:p14="http://schemas.microsoft.com/office/powerpoint/2010/main" val="427159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F7516D1-2810-DBB0-1BB7-7573D3D9D7FC}"/>
              </a:ext>
            </a:extLst>
          </p:cNvPr>
          <p:cNvPicPr>
            <a:picLocks noChangeAspect="1"/>
          </p:cNvPicPr>
          <p:nvPr/>
        </p:nvPicPr>
        <p:blipFill>
          <a:blip r:embed="rId2"/>
          <a:stretch>
            <a:fillRect/>
          </a:stretch>
        </p:blipFill>
        <p:spPr>
          <a:xfrm>
            <a:off x="621675" y="1518046"/>
            <a:ext cx="5474323" cy="3818339"/>
          </a:xfrm>
          <a:prstGeom prst="rect">
            <a:avLst/>
          </a:prstGeom>
        </p:spPr>
      </p:pic>
      <p:sp>
        <p:nvSpPr>
          <p:cNvPr id="11" name="Right Triangle 1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1DB97-28BD-483D-B776-1D7611366D61}"/>
              </a:ext>
            </a:extLst>
          </p:cNvPr>
          <p:cNvSpPr>
            <a:spLocks noGrp="1"/>
          </p:cNvSpPr>
          <p:nvPr>
            <p:ph type="title"/>
          </p:nvPr>
        </p:nvSpPr>
        <p:spPr>
          <a:xfrm>
            <a:off x="6889833" y="1056640"/>
            <a:ext cx="4360324" cy="3494398"/>
          </a:xfrm>
        </p:spPr>
        <p:txBody>
          <a:bodyPr vert="horz" lIns="91440" tIns="45720" rIns="91440" bIns="45720" rtlCol="0" anchor="b">
            <a:normAutofit fontScale="90000"/>
          </a:bodyPr>
          <a:lstStyle/>
          <a:p>
            <a:r>
              <a:rPr lang="en-US" sz="1800" b="1" kern="1200">
                <a:solidFill>
                  <a:schemeClr val="tx1"/>
                </a:solidFill>
                <a:latin typeface="+mj-lt"/>
                <a:ea typeface="+mj-ea"/>
                <a:cs typeface="+mj-cs"/>
              </a:rPr>
              <a:t>Top 20 source countries by overall exposure across U.S. critical mineral imports. </a:t>
            </a:r>
            <a:br>
              <a:rPr lang="en-US" sz="1800" b="1" kern="1200">
                <a:solidFill>
                  <a:schemeClr val="tx1"/>
                </a:solidFill>
                <a:latin typeface="+mj-lt"/>
                <a:ea typeface="+mj-ea"/>
                <a:cs typeface="+mj-cs"/>
              </a:rPr>
            </a:br>
            <a:br>
              <a:rPr lang="en-US" sz="1800" b="1" kern="1200">
                <a:solidFill>
                  <a:schemeClr val="tx1"/>
                </a:solidFill>
                <a:latin typeface="+mj-lt"/>
                <a:ea typeface="+mj-ea"/>
                <a:cs typeface="+mj-cs"/>
              </a:rPr>
            </a:br>
            <a:r>
              <a:rPr lang="en-US" sz="1800" kern="1200">
                <a:solidFill>
                  <a:schemeClr val="tx1"/>
                </a:solidFill>
                <a:latin typeface="+mj-lt"/>
                <a:ea typeface="+mj-ea"/>
                <a:cs typeface="+mj-cs"/>
              </a:rPr>
              <a:t>- Exposure reflects the summed import shares across all minerals, highlighting countries that repeatedly appear as significant suppliers. </a:t>
            </a:r>
            <a:br>
              <a:rPr lang="en-US" sz="1800" kern="1200">
                <a:solidFill>
                  <a:schemeClr val="tx1"/>
                </a:solidFill>
                <a:latin typeface="+mj-lt"/>
                <a:ea typeface="+mj-ea"/>
                <a:cs typeface="+mj-cs"/>
              </a:rPr>
            </a:br>
            <a:r>
              <a:rPr lang="en-US" sz="1800" kern="1200">
                <a:solidFill>
                  <a:schemeClr val="tx1"/>
                </a:solidFill>
                <a:latin typeface="+mj-lt"/>
                <a:ea typeface="+mj-ea"/>
                <a:cs typeface="+mj-cs"/>
              </a:rPr>
              <a:t>- Canada stands out as the largest source, underscoring the importance of allied and geographically proximate partners in U.S. supply chains. </a:t>
            </a:r>
            <a:br>
              <a:rPr lang="en-US" sz="1800" kern="1200">
                <a:solidFill>
                  <a:schemeClr val="tx1"/>
                </a:solidFill>
                <a:latin typeface="+mj-lt"/>
                <a:ea typeface="+mj-ea"/>
                <a:cs typeface="+mj-cs"/>
              </a:rPr>
            </a:br>
            <a:r>
              <a:rPr lang="en-US" sz="1800" kern="1200">
                <a:solidFill>
                  <a:schemeClr val="tx1"/>
                </a:solidFill>
                <a:latin typeface="+mj-lt"/>
                <a:ea typeface="+mj-ea"/>
                <a:cs typeface="+mj-cs"/>
              </a:rPr>
              <a:t>- Several neutral countries also play major roles, while China is the most prominent competitor source, indicating a concentrated point of geopolitical risk relative to other competitors.</a:t>
            </a:r>
          </a:p>
        </p:txBody>
      </p:sp>
    </p:spTree>
    <p:extLst>
      <p:ext uri="{BB962C8B-B14F-4D97-AF65-F5344CB8AC3E}">
        <p14:creationId xmlns:p14="http://schemas.microsoft.com/office/powerpoint/2010/main" val="1532057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109000B-B5C1-F070-1FB8-250E00CE987C}"/>
              </a:ext>
            </a:extLst>
          </p:cNvPr>
          <p:cNvSpPr>
            <a:spLocks noGrp="1" noChangeArrowheads="1"/>
          </p:cNvSpPr>
          <p:nvPr>
            <p:ph type="title"/>
          </p:nvPr>
        </p:nvSpPr>
        <p:spPr bwMode="auto">
          <a:xfrm>
            <a:off x="208207" y="1879826"/>
            <a:ext cx="4171994" cy="37365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fontScale="9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Aft>
                <a:spcPct val="0"/>
              </a:spcAft>
              <a:buClrTx/>
              <a:buSzTx/>
              <a:tabLst/>
            </a:pPr>
            <a:r>
              <a:rPr kumimoji="0" lang="en-US" altLang="en-US" sz="1500" b="0" i="0" u="none" strike="noStrike" kern="1200" cap="none" normalizeH="0" baseline="0" dirty="0">
                <a:ln>
                  <a:noFill/>
                </a:ln>
                <a:solidFill>
                  <a:schemeClr val="tx1"/>
                </a:solidFill>
                <a:effectLst/>
                <a:latin typeface="+mj-lt"/>
                <a:ea typeface="+mj-ea"/>
                <a:cs typeface="+mj-cs"/>
              </a:rPr>
              <a:t>Under the </a:t>
            </a:r>
            <a:r>
              <a:rPr kumimoji="0" lang="en-US" altLang="en-US" sz="1500" b="1" i="0" u="none" strike="noStrike" kern="1200" cap="none" normalizeH="0" baseline="0" dirty="0">
                <a:ln>
                  <a:noFill/>
                </a:ln>
                <a:solidFill>
                  <a:schemeClr val="tx1"/>
                </a:solidFill>
                <a:effectLst/>
                <a:latin typeface="+mj-lt"/>
                <a:ea typeface="+mj-ea"/>
                <a:cs typeface="+mj-cs"/>
              </a:rPr>
              <a:t>war-only</a:t>
            </a:r>
            <a:r>
              <a:rPr kumimoji="0" lang="en-US" altLang="en-US" sz="1500" b="0" i="0" u="none" strike="noStrike" kern="1200" cap="none" normalizeH="0" baseline="0" dirty="0">
                <a:ln>
                  <a:noFill/>
                </a:ln>
                <a:solidFill>
                  <a:schemeClr val="tx1"/>
                </a:solidFill>
                <a:effectLst/>
                <a:latin typeface="+mj-lt"/>
                <a:ea typeface="+mj-ea"/>
                <a:cs typeface="+mj-cs"/>
              </a:rPr>
              <a:t> and </a:t>
            </a:r>
            <a:r>
              <a:rPr kumimoji="0" lang="en-US" altLang="en-US" sz="1500" b="1" i="0" u="none" strike="noStrike" kern="1200" cap="none" normalizeH="0" baseline="0" dirty="0">
                <a:ln>
                  <a:noFill/>
                </a:ln>
                <a:solidFill>
                  <a:schemeClr val="tx1"/>
                </a:solidFill>
                <a:effectLst/>
                <a:latin typeface="+mj-lt"/>
                <a:ea typeface="+mj-ea"/>
                <a:cs typeface="+mj-cs"/>
              </a:rPr>
              <a:t>sanctions-only</a:t>
            </a:r>
            <a:r>
              <a:rPr kumimoji="0" lang="en-US" altLang="en-US" sz="1500" b="0" i="0" u="none" strike="noStrike" kern="1200" cap="none" normalizeH="0" baseline="0" dirty="0">
                <a:ln>
                  <a:noFill/>
                </a:ln>
                <a:solidFill>
                  <a:schemeClr val="tx1"/>
                </a:solidFill>
                <a:effectLst/>
                <a:latin typeface="+mj-lt"/>
                <a:ea typeface="+mj-ea"/>
                <a:cs typeface="+mj-cs"/>
              </a:rPr>
              <a:t> scenarios, most minerals show relatively low shortfall estimates, indicating that direct geopolitical conflict or targeted sanctions alone may not uniformly disrupt supply across all minerals. </a:t>
            </a:r>
            <a:br>
              <a:rPr kumimoji="0" lang="en-US" altLang="en-US" sz="1500" b="0" i="0" u="none" strike="noStrike" kern="1200" cap="none" normalizeH="0" baseline="0" dirty="0">
                <a:ln>
                  <a:noFill/>
                </a:ln>
                <a:solidFill>
                  <a:schemeClr val="tx1"/>
                </a:solidFill>
                <a:effectLst/>
                <a:latin typeface="+mj-lt"/>
                <a:ea typeface="+mj-ea"/>
                <a:cs typeface="+mj-cs"/>
              </a:rPr>
            </a:br>
            <a:br>
              <a:rPr kumimoji="0" lang="en-US" altLang="en-US" sz="1500" b="0" i="0" u="none" strike="noStrike" kern="1200" cap="none" normalizeH="0" baseline="0" dirty="0">
                <a:ln>
                  <a:noFill/>
                </a:ln>
                <a:solidFill>
                  <a:schemeClr val="tx1"/>
                </a:solidFill>
                <a:effectLst/>
                <a:latin typeface="+mj-lt"/>
                <a:ea typeface="+mj-ea"/>
                <a:cs typeface="+mj-cs"/>
              </a:rPr>
            </a:br>
            <a:r>
              <a:rPr kumimoji="0" lang="en-US" altLang="en-US" sz="1500" b="0" i="0" u="none" strike="noStrike" kern="1200" cap="none" normalizeH="0" baseline="0" dirty="0">
                <a:ln>
                  <a:noFill/>
                </a:ln>
                <a:solidFill>
                  <a:schemeClr val="tx1"/>
                </a:solidFill>
                <a:effectLst/>
                <a:latin typeface="+mj-lt"/>
                <a:ea typeface="+mj-ea"/>
                <a:cs typeface="+mj-cs"/>
              </a:rPr>
              <a:t>In contrast, the </a:t>
            </a:r>
            <a:r>
              <a:rPr kumimoji="0" lang="en-US" altLang="en-US" sz="1500" b="1" i="0" u="none" strike="noStrike" kern="1200" cap="none" normalizeH="0" baseline="0" dirty="0">
                <a:ln>
                  <a:noFill/>
                </a:ln>
                <a:solidFill>
                  <a:schemeClr val="tx1"/>
                </a:solidFill>
                <a:effectLst/>
                <a:latin typeface="+mj-lt"/>
                <a:ea typeface="+mj-ea"/>
                <a:cs typeface="+mj-cs"/>
              </a:rPr>
              <a:t>shipping disruption-only</a:t>
            </a:r>
            <a:r>
              <a:rPr kumimoji="0" lang="en-US" altLang="en-US" sz="1500" b="0" i="0" u="none" strike="noStrike" kern="1200" cap="none" normalizeH="0" baseline="0" dirty="0">
                <a:ln>
                  <a:noFill/>
                </a:ln>
                <a:solidFill>
                  <a:schemeClr val="tx1"/>
                </a:solidFill>
                <a:effectLst/>
                <a:latin typeface="+mj-lt"/>
                <a:ea typeface="+mj-ea"/>
                <a:cs typeface="+mj-cs"/>
              </a:rPr>
              <a:t> scenario produces the most severe and widespread impacts. Many minerals show substantially higher shortfall percentages, suggesting that logistical chokepoints and transportation interruptions pose a greater systemic risk to mineral availability than geopolitical actions alone. This underscores the vulnerability of globalized supply chains to non-military disruptions such as port closures, canal blockages, or maritime instability.</a:t>
            </a:r>
          </a:p>
          <a:p>
            <a:pPr marL="0" marR="0" lvl="0" indent="0" eaLnBrk="1" fontAlgn="base" hangingPunct="1">
              <a:spcAft>
                <a:spcPct val="0"/>
              </a:spcAft>
              <a:buClrTx/>
              <a:buSzTx/>
              <a:tabLst/>
            </a:pPr>
            <a:br>
              <a:rPr kumimoji="0" lang="en-US" altLang="en-US" sz="1500" b="0" i="0" u="none" strike="noStrike" kern="1200" cap="none" normalizeH="0" baseline="0" dirty="0">
                <a:ln>
                  <a:noFill/>
                </a:ln>
                <a:solidFill>
                  <a:schemeClr val="tx1"/>
                </a:solidFill>
                <a:effectLst/>
                <a:latin typeface="+mj-lt"/>
                <a:ea typeface="+mj-ea"/>
                <a:cs typeface="+mj-cs"/>
              </a:rPr>
            </a:br>
            <a:r>
              <a:rPr kumimoji="0" lang="en-US" altLang="en-US" sz="1500" b="0" i="0" u="none" strike="noStrike" kern="1200" cap="none" normalizeH="0" baseline="0" dirty="0">
                <a:ln>
                  <a:noFill/>
                </a:ln>
                <a:solidFill>
                  <a:schemeClr val="tx1"/>
                </a:solidFill>
                <a:effectLst/>
                <a:latin typeface="+mj-lt"/>
                <a:ea typeface="+mj-ea"/>
                <a:cs typeface="+mj-cs"/>
              </a:rPr>
              <a:t>The </a:t>
            </a:r>
            <a:r>
              <a:rPr kumimoji="0" lang="en-US" altLang="en-US" sz="1500" b="1" i="0" u="none" strike="noStrike" kern="1200" cap="none" normalizeH="0" baseline="0" dirty="0">
                <a:ln>
                  <a:noFill/>
                </a:ln>
                <a:solidFill>
                  <a:schemeClr val="tx1"/>
                </a:solidFill>
                <a:effectLst/>
                <a:latin typeface="+mj-lt"/>
                <a:ea typeface="+mj-ea"/>
                <a:cs typeface="+mj-cs"/>
              </a:rPr>
              <a:t>economic crisis</a:t>
            </a:r>
            <a:r>
              <a:rPr kumimoji="0" lang="en-US" altLang="en-US" sz="1500" b="0" i="0" u="none" strike="noStrike" kern="1200" cap="none" normalizeH="0" baseline="0" dirty="0">
                <a:ln>
                  <a:noFill/>
                </a:ln>
                <a:solidFill>
                  <a:schemeClr val="tx1"/>
                </a:solidFill>
                <a:effectLst/>
                <a:latin typeface="+mj-lt"/>
                <a:ea typeface="+mj-ea"/>
                <a:cs typeface="+mj-cs"/>
              </a:rPr>
              <a:t> scenario shows more moderate but broadly distributed impacts across minerals. While shortfalls are generally lower than those under shipping disruptions, they are more evenly spread, indicating that demand shocks, financial constraints, and reduced production capacity can affect a wide range of minerals simultaneously.</a:t>
            </a:r>
          </a:p>
        </p:txBody>
      </p:sp>
      <p:grpSp>
        <p:nvGrpSpPr>
          <p:cNvPr id="22" name="Group 21">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3" name="Straight Connector 22">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313E150-032C-F53A-DEC6-8B84D1AFB346}"/>
              </a:ext>
            </a:extLst>
          </p:cNvPr>
          <p:cNvPicPr>
            <a:picLocks noChangeAspect="1"/>
          </p:cNvPicPr>
          <p:nvPr/>
        </p:nvPicPr>
        <p:blipFill>
          <a:blip r:embed="rId2"/>
          <a:srcRect t="5277"/>
          <a:stretch>
            <a:fillRect/>
          </a:stretch>
        </p:blipFill>
        <p:spPr>
          <a:xfrm>
            <a:off x="4459765" y="1365244"/>
            <a:ext cx="7615092" cy="3137769"/>
          </a:xfrm>
          <a:prstGeom prst="rect">
            <a:avLst/>
          </a:prstGeom>
        </p:spPr>
      </p:pic>
    </p:spTree>
    <p:extLst>
      <p:ext uri="{BB962C8B-B14F-4D97-AF65-F5344CB8AC3E}">
        <p14:creationId xmlns:p14="http://schemas.microsoft.com/office/powerpoint/2010/main" val="38453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980B2A-189B-0DEB-D75C-B5CCCF46CF91}"/>
              </a:ext>
            </a:extLst>
          </p:cNvPr>
          <p:cNvPicPr>
            <a:picLocks noChangeAspect="1"/>
          </p:cNvPicPr>
          <p:nvPr/>
        </p:nvPicPr>
        <p:blipFill>
          <a:blip r:embed="rId2"/>
          <a:stretch>
            <a:fillRect/>
          </a:stretch>
        </p:blipFill>
        <p:spPr>
          <a:xfrm>
            <a:off x="641774" y="752364"/>
            <a:ext cx="10771074" cy="1427165"/>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349105E-5367-F266-2EF7-33103C668CE1}"/>
              </a:ext>
            </a:extLst>
          </p:cNvPr>
          <p:cNvSpPr>
            <a:spLocks noGrp="1" noChangeArrowheads="1"/>
          </p:cNvSpPr>
          <p:nvPr>
            <p:ph type="title"/>
          </p:nvPr>
        </p:nvSpPr>
        <p:spPr bwMode="auto">
          <a:xfrm>
            <a:off x="1289304" y="3429000"/>
            <a:ext cx="8921672" cy="171330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fontScale="90000"/>
          </a:bodyPr>
          <a:lstStyle/>
          <a:p>
            <a:pPr marL="0" marR="0" lvl="0" indent="0" fontAlgn="base">
              <a:spcAft>
                <a:spcPct val="0"/>
              </a:spcAft>
              <a:buClrTx/>
              <a:buSzTx/>
              <a:tabLst/>
            </a:pPr>
            <a:r>
              <a:rPr kumimoji="0" lang="en-US" altLang="en-US" sz="2000" b="1" i="0" u="none" strike="noStrike" kern="1200" cap="none" normalizeH="0" baseline="0" dirty="0">
                <a:ln>
                  <a:noFill/>
                </a:ln>
                <a:solidFill>
                  <a:schemeClr val="tx1"/>
                </a:solidFill>
                <a:effectLst/>
                <a:latin typeface="+mj-lt"/>
                <a:ea typeface="+mj-ea"/>
                <a:cs typeface="+mj-cs"/>
              </a:rPr>
              <a:t>China-linked exposure - A small subset of minerals drives most shortfall risk, rather than broad-based disruption across all minerals.</a:t>
            </a:r>
            <a:br>
              <a:rPr kumimoji="0" lang="en-US" altLang="en-US" sz="2000" b="1" i="0" u="none" strike="noStrike" kern="1200" cap="none" normalizeH="0" baseline="0" dirty="0">
                <a:ln>
                  <a:noFill/>
                </a:ln>
                <a:solidFill>
                  <a:schemeClr val="tx1"/>
                </a:solidFill>
                <a:effectLst/>
                <a:latin typeface="+mj-lt"/>
                <a:ea typeface="+mj-ea"/>
                <a:cs typeface="+mj-cs"/>
              </a:rPr>
            </a:br>
            <a:endParaRPr kumimoji="0" lang="en-US" altLang="en-US" sz="2000" b="1" i="0" u="none" strike="noStrike" kern="1200" cap="none" normalizeH="0" baseline="0" dirty="0">
              <a:ln>
                <a:noFill/>
              </a:ln>
              <a:solidFill>
                <a:schemeClr val="tx1"/>
              </a:solidFill>
              <a:effectLst/>
              <a:latin typeface="+mj-lt"/>
              <a:ea typeface="+mj-ea"/>
              <a:cs typeface="+mj-cs"/>
            </a:endParaRPr>
          </a:p>
          <a:p>
            <a:pPr marL="0" marR="0" lvl="0" indent="0" fontAlgn="base">
              <a:spcAft>
                <a:spcPct val="0"/>
              </a:spcAft>
              <a:buClrTx/>
              <a:buSzTx/>
              <a:tabLst/>
            </a:pPr>
            <a:r>
              <a:rPr kumimoji="0" lang="en-US" altLang="en-US" sz="2000" b="1" i="0" u="none" strike="noStrike" kern="1200" cap="none" normalizeH="0" baseline="0" dirty="0">
                <a:ln>
                  <a:noFill/>
                </a:ln>
                <a:solidFill>
                  <a:schemeClr val="tx1"/>
                </a:solidFill>
                <a:effectLst/>
                <a:latin typeface="+mj-lt"/>
                <a:ea typeface="+mj-ea"/>
                <a:cs typeface="+mj-cs"/>
              </a:rPr>
              <a:t>- Shipping disruptions:</a:t>
            </a:r>
            <a:r>
              <a:rPr kumimoji="0" lang="en-US" altLang="en-US" sz="2000" b="0" i="0" u="none" strike="noStrike" kern="1200" cap="none" normalizeH="0" baseline="0" dirty="0">
                <a:ln>
                  <a:noFill/>
                </a:ln>
                <a:solidFill>
                  <a:schemeClr val="tx1"/>
                </a:solidFill>
                <a:effectLst/>
                <a:latin typeface="+mj-lt"/>
                <a:ea typeface="+mj-ea"/>
                <a:cs typeface="+mj-cs"/>
              </a:rPr>
              <a:t> Create the largest shortfalls for China-linked minerals, especially titanium and graphite, underscoring reliance on logistics and trade routes.</a:t>
            </a:r>
            <a:br>
              <a:rPr kumimoji="0" lang="en-US" altLang="en-US" sz="2000" b="0" i="0" u="none" strike="noStrike" kern="1200" cap="none" normalizeH="0" baseline="0" dirty="0">
                <a:ln>
                  <a:noFill/>
                </a:ln>
                <a:solidFill>
                  <a:schemeClr val="tx1"/>
                </a:solidFill>
                <a:effectLst/>
                <a:latin typeface="+mj-lt"/>
                <a:ea typeface="+mj-ea"/>
                <a:cs typeface="+mj-cs"/>
              </a:rPr>
            </a:br>
            <a:endParaRPr kumimoji="0" lang="en-US" altLang="en-US" sz="2000" b="0" i="0" u="none" strike="noStrike" kern="1200" cap="none" normalizeH="0" baseline="0" dirty="0">
              <a:ln>
                <a:noFill/>
              </a:ln>
              <a:solidFill>
                <a:schemeClr val="tx1"/>
              </a:solidFill>
              <a:effectLst/>
              <a:latin typeface="+mj-lt"/>
              <a:ea typeface="+mj-ea"/>
              <a:cs typeface="+mj-cs"/>
            </a:endParaRPr>
          </a:p>
          <a:p>
            <a:pPr marL="0" marR="0" lvl="0" indent="0" fontAlgn="base">
              <a:spcAft>
                <a:spcPct val="0"/>
              </a:spcAft>
              <a:buClrTx/>
              <a:buSzTx/>
              <a:tabLst/>
            </a:pPr>
            <a:r>
              <a:rPr kumimoji="0" lang="en-US" altLang="en-US" sz="2000" b="1" i="0" u="none" strike="noStrike" kern="1200" cap="none" normalizeH="0" baseline="0" dirty="0">
                <a:ln>
                  <a:noFill/>
                </a:ln>
                <a:solidFill>
                  <a:schemeClr val="tx1"/>
                </a:solidFill>
                <a:effectLst/>
                <a:latin typeface="+mj-lt"/>
                <a:ea typeface="+mj-ea"/>
                <a:cs typeface="+mj-cs"/>
              </a:rPr>
              <a:t>- War and sanctions:</a:t>
            </a:r>
            <a:r>
              <a:rPr kumimoji="0" lang="en-US" altLang="en-US" sz="2000" b="0" i="0" u="none" strike="noStrike" kern="1200" cap="none" normalizeH="0" baseline="0" dirty="0">
                <a:ln>
                  <a:noFill/>
                </a:ln>
                <a:solidFill>
                  <a:schemeClr val="tx1"/>
                </a:solidFill>
                <a:effectLst/>
                <a:latin typeface="+mj-lt"/>
                <a:ea typeface="+mj-ea"/>
                <a:cs typeface="+mj-cs"/>
              </a:rPr>
              <a:t> Generally lower impacts, suggesting indirect exposure rather than immediate cutoff for most China-linked supplies.</a:t>
            </a:r>
            <a:br>
              <a:rPr kumimoji="0" lang="en-US" altLang="en-US" sz="2000" b="0" i="0" u="none" strike="noStrike" kern="1200" cap="none" normalizeH="0" baseline="0" dirty="0">
                <a:ln>
                  <a:noFill/>
                </a:ln>
                <a:solidFill>
                  <a:schemeClr val="tx1"/>
                </a:solidFill>
                <a:effectLst/>
                <a:latin typeface="+mj-lt"/>
                <a:ea typeface="+mj-ea"/>
                <a:cs typeface="+mj-cs"/>
              </a:rPr>
            </a:br>
            <a:endParaRPr kumimoji="0" lang="en-US" altLang="en-US" sz="2000" b="0" i="0" u="none" strike="noStrike" kern="1200" cap="none" normalizeH="0" baseline="0" dirty="0">
              <a:ln>
                <a:noFill/>
              </a:ln>
              <a:solidFill>
                <a:schemeClr val="tx1"/>
              </a:solidFill>
              <a:effectLst/>
              <a:latin typeface="+mj-lt"/>
              <a:ea typeface="+mj-ea"/>
              <a:cs typeface="+mj-cs"/>
            </a:endParaRPr>
          </a:p>
          <a:p>
            <a:pPr marL="0" marR="0" lvl="0" indent="0" fontAlgn="base">
              <a:spcAft>
                <a:spcPct val="0"/>
              </a:spcAft>
              <a:buClrTx/>
              <a:buSzTx/>
              <a:tabLst/>
            </a:pPr>
            <a:r>
              <a:rPr kumimoji="0" lang="en-US" altLang="en-US" sz="2000" b="1" i="0" u="none" strike="noStrike" kern="1200" cap="none" normalizeH="0" baseline="0" dirty="0">
                <a:ln>
                  <a:noFill/>
                </a:ln>
                <a:solidFill>
                  <a:schemeClr val="tx1"/>
                </a:solidFill>
                <a:effectLst/>
                <a:latin typeface="+mj-lt"/>
                <a:ea typeface="+mj-ea"/>
                <a:cs typeface="+mj-cs"/>
              </a:rPr>
              <a:t>- Economic crisis:</a:t>
            </a:r>
            <a:r>
              <a:rPr kumimoji="0" lang="en-US" altLang="en-US" sz="2000" b="0" i="0" u="none" strike="noStrike" kern="1200" cap="none" normalizeH="0" baseline="0" dirty="0">
                <a:ln>
                  <a:noFill/>
                </a:ln>
                <a:solidFill>
                  <a:schemeClr val="tx1"/>
                </a:solidFill>
                <a:effectLst/>
                <a:latin typeface="+mj-lt"/>
                <a:ea typeface="+mj-ea"/>
                <a:cs typeface="+mj-cs"/>
              </a:rPr>
              <a:t> Produces moderate, consistent stress across minerals, reflecting demand and production sensitivity rather than geopolitical leverage.</a:t>
            </a:r>
          </a:p>
        </p:txBody>
      </p:sp>
    </p:spTree>
    <p:extLst>
      <p:ext uri="{BB962C8B-B14F-4D97-AF65-F5344CB8AC3E}">
        <p14:creationId xmlns:p14="http://schemas.microsoft.com/office/powerpoint/2010/main" val="2997662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0F1BFC6-3502-6941-4F8E-416F8D954F95}"/>
              </a:ext>
            </a:extLst>
          </p:cNvPr>
          <p:cNvPicPr>
            <a:picLocks noChangeAspect="1"/>
          </p:cNvPicPr>
          <p:nvPr/>
        </p:nvPicPr>
        <p:blipFill>
          <a:blip r:embed="rId2"/>
          <a:stretch>
            <a:fillRect/>
          </a:stretch>
        </p:blipFill>
        <p:spPr>
          <a:xfrm>
            <a:off x="641774" y="655575"/>
            <a:ext cx="10789442" cy="1591440"/>
          </a:xfrm>
          <a:prstGeom prst="rect">
            <a:avLst/>
          </a:prstGeom>
        </p:spPr>
      </p:pic>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54F32FC2-409B-BA01-5993-66E87031CF4A}"/>
              </a:ext>
            </a:extLst>
          </p:cNvPr>
          <p:cNvSpPr>
            <a:spLocks noGrp="1" noChangeArrowheads="1"/>
          </p:cNvSpPr>
          <p:nvPr>
            <p:ph type="title"/>
          </p:nvPr>
        </p:nvSpPr>
        <p:spPr bwMode="auto">
          <a:xfrm>
            <a:off x="1145255" y="2332007"/>
            <a:ext cx="8921672" cy="3250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fontScale="90000"/>
          </a:bodyPr>
          <a:lstStyle/>
          <a:p>
            <a:pPr lvl="0" fontAlgn="base">
              <a:spcAft>
                <a:spcPct val="0"/>
              </a:spcAft>
            </a:pPr>
            <a:r>
              <a:rPr kumimoji="0" lang="en-US" altLang="en-US" sz="2000" b="1" i="0" u="none" strike="noStrike" kern="1200" cap="none" normalizeH="0" baseline="0" dirty="0">
                <a:ln>
                  <a:noFill/>
                </a:ln>
                <a:solidFill>
                  <a:schemeClr val="tx1"/>
                </a:solidFill>
                <a:effectLst/>
                <a:latin typeface="+mj-lt"/>
                <a:ea typeface="+mj-ea"/>
                <a:cs typeface="+mj-cs"/>
              </a:rPr>
              <a:t>Both China and Russia are strategically contentious from a U.S. foreign-policy perspective, but their roles in critical mineral supply chains are fundamentally different.</a:t>
            </a:r>
            <a:br>
              <a:rPr kumimoji="0" lang="en-US" altLang="en-US" sz="2000" b="1" i="0" u="none" strike="noStrike" kern="1200" cap="none" normalizeH="0" baseline="0" dirty="0">
                <a:ln>
                  <a:noFill/>
                </a:ln>
                <a:solidFill>
                  <a:schemeClr val="tx1"/>
                </a:solidFill>
                <a:effectLst/>
                <a:latin typeface="+mj-lt"/>
                <a:ea typeface="+mj-ea"/>
                <a:cs typeface="+mj-cs"/>
              </a:rPr>
            </a:br>
            <a:br>
              <a:rPr kumimoji="0" lang="en-US" altLang="en-US" sz="2000" b="0" i="0" u="none" strike="noStrike" kern="1200" cap="none" normalizeH="0" baseline="0" dirty="0">
                <a:ln>
                  <a:noFill/>
                </a:ln>
                <a:solidFill>
                  <a:schemeClr val="tx1"/>
                </a:solidFill>
                <a:effectLst/>
                <a:latin typeface="+mj-lt"/>
                <a:ea typeface="+mj-ea"/>
                <a:cs typeface="+mj-cs"/>
              </a:rPr>
            </a:br>
            <a:r>
              <a:rPr kumimoji="0" lang="en-US" altLang="en-US" sz="2000" b="0" i="0" u="none" strike="noStrike" kern="1200" cap="none" normalizeH="0" baseline="0" dirty="0">
                <a:ln>
                  <a:noFill/>
                </a:ln>
                <a:solidFill>
                  <a:schemeClr val="tx1"/>
                </a:solidFill>
                <a:effectLst/>
                <a:latin typeface="+mj-lt"/>
                <a:ea typeface="+mj-ea"/>
                <a:cs typeface="+mj-cs"/>
              </a:rPr>
              <a:t>- </a:t>
            </a:r>
            <a:r>
              <a:rPr kumimoji="0" lang="en-US" altLang="en-US" sz="2000" b="1" i="0" u="none" strike="noStrike" kern="1200" cap="none" normalizeH="0" baseline="0" dirty="0">
                <a:ln>
                  <a:noFill/>
                </a:ln>
                <a:solidFill>
                  <a:schemeClr val="tx1"/>
                </a:solidFill>
                <a:effectLst/>
                <a:latin typeface="+mj-lt"/>
                <a:ea typeface="+mj-ea"/>
                <a:cs typeface="+mj-cs"/>
              </a:rPr>
              <a:t>China-linked minerals:</a:t>
            </a:r>
            <a:r>
              <a:rPr kumimoji="0" lang="en-US" altLang="en-US" sz="2000" b="0" i="0" u="none" strike="noStrike" kern="1200" cap="none" normalizeH="0" baseline="0" dirty="0">
                <a:ln>
                  <a:noFill/>
                </a:ln>
                <a:solidFill>
                  <a:schemeClr val="tx1"/>
                </a:solidFill>
                <a:effectLst/>
                <a:latin typeface="+mj-lt"/>
                <a:ea typeface="+mj-ea"/>
                <a:cs typeface="+mj-cs"/>
              </a:rPr>
              <a:t> Exhibit broader and more variable shortfall risk across scenarios, reflecting China’s central position in global mining, processing, and logistics networks.</a:t>
            </a:r>
            <a:br>
              <a:rPr kumimoji="0" lang="en-US" altLang="en-US" sz="2000" b="0" i="0" u="none" strike="noStrike" kern="1200" cap="none" normalizeH="0" baseline="0" dirty="0">
                <a:ln>
                  <a:noFill/>
                </a:ln>
                <a:solidFill>
                  <a:schemeClr val="tx1"/>
                </a:solidFill>
                <a:effectLst/>
                <a:latin typeface="+mj-lt"/>
                <a:ea typeface="+mj-ea"/>
                <a:cs typeface="+mj-cs"/>
              </a:rPr>
            </a:br>
            <a:br>
              <a:rPr kumimoji="0" lang="en-US" altLang="en-US" sz="2000" b="0" i="0" u="none" strike="noStrike" kern="1200" cap="none" normalizeH="0" baseline="0" dirty="0">
                <a:ln>
                  <a:noFill/>
                </a:ln>
                <a:solidFill>
                  <a:schemeClr val="tx1"/>
                </a:solidFill>
                <a:effectLst/>
                <a:latin typeface="+mj-lt"/>
                <a:ea typeface="+mj-ea"/>
                <a:cs typeface="+mj-cs"/>
              </a:rPr>
            </a:br>
            <a:r>
              <a:rPr kumimoji="0" lang="en-US" altLang="en-US" sz="2000" b="0" i="0" u="none" strike="noStrike" kern="1200" cap="none" normalizeH="0" baseline="0" dirty="0">
                <a:ln>
                  <a:noFill/>
                </a:ln>
                <a:solidFill>
                  <a:schemeClr val="tx1"/>
                </a:solidFill>
                <a:effectLst/>
                <a:latin typeface="+mj-lt"/>
                <a:ea typeface="+mj-ea"/>
                <a:cs typeface="+mj-cs"/>
              </a:rPr>
              <a:t>- </a:t>
            </a:r>
            <a:r>
              <a:rPr kumimoji="0" lang="en-US" altLang="en-US" sz="2000" b="1" i="0" u="none" strike="noStrike" kern="1200" cap="none" normalizeH="0" baseline="0" dirty="0">
                <a:ln>
                  <a:noFill/>
                </a:ln>
                <a:solidFill>
                  <a:schemeClr val="tx1"/>
                </a:solidFill>
                <a:effectLst/>
                <a:latin typeface="+mj-lt"/>
                <a:ea typeface="+mj-ea"/>
                <a:cs typeface="+mj-cs"/>
              </a:rPr>
              <a:t>Russia-linked minerals:</a:t>
            </a:r>
            <a:r>
              <a:rPr kumimoji="0" lang="en-US" altLang="en-US" sz="2000" b="0" i="0" u="none" strike="noStrike" kern="1200" cap="none" normalizeH="0" baseline="0" dirty="0">
                <a:ln>
                  <a:noFill/>
                </a:ln>
                <a:solidFill>
                  <a:schemeClr val="tx1"/>
                </a:solidFill>
                <a:effectLst/>
                <a:latin typeface="+mj-lt"/>
                <a:ea typeface="+mj-ea"/>
                <a:cs typeface="+mj-cs"/>
              </a:rPr>
              <a:t> Show narrower and more consistent impacts, indicating concentrated exposure in fewer minerals rather than system-wide dependency.</a:t>
            </a:r>
            <a:br>
              <a:rPr lang="en-US" altLang="en-US" sz="2000" kern="1200" dirty="0">
                <a:solidFill>
                  <a:schemeClr val="tx1"/>
                </a:solidFill>
                <a:latin typeface="+mj-lt"/>
                <a:ea typeface="+mj-ea"/>
                <a:cs typeface="+mj-cs"/>
              </a:rPr>
            </a:br>
            <a:br>
              <a:rPr lang="en-US" altLang="en-US" sz="2000" kern="1200" dirty="0">
                <a:solidFill>
                  <a:schemeClr val="tx1"/>
                </a:solidFill>
                <a:latin typeface="+mj-lt"/>
                <a:ea typeface="+mj-ea"/>
                <a:cs typeface="+mj-cs"/>
              </a:rPr>
            </a:br>
            <a:r>
              <a:rPr lang="en-US" altLang="en-US" sz="2000" kern="1200" dirty="0">
                <a:solidFill>
                  <a:schemeClr val="tx1"/>
                </a:solidFill>
                <a:latin typeface="+mj-lt"/>
                <a:ea typeface="+mj-ea"/>
                <a:cs typeface="+mj-cs"/>
              </a:rPr>
              <a:t>- </a:t>
            </a:r>
            <a:r>
              <a:rPr kumimoji="0" lang="en-US" altLang="en-US" sz="2000" b="0" i="0" u="none" strike="noStrike" kern="1200" cap="none" normalizeH="0" baseline="0" dirty="0">
                <a:ln>
                  <a:noFill/>
                </a:ln>
                <a:solidFill>
                  <a:schemeClr val="tx1"/>
                </a:solidFill>
                <a:effectLst/>
                <a:latin typeface="+mj-lt"/>
                <a:ea typeface="+mj-ea"/>
                <a:cs typeface="+mj-cs"/>
              </a:rPr>
              <a:t>While both countries present geopolitical risk, U.S. mineral supply vulnerability is not equivalent; China poses a more systemic supply-chain risk, whereas Russia’s impact is more limited and mineral-specific.</a:t>
            </a:r>
          </a:p>
        </p:txBody>
      </p:sp>
    </p:spTree>
    <p:extLst>
      <p:ext uri="{BB962C8B-B14F-4D97-AF65-F5344CB8AC3E}">
        <p14:creationId xmlns:p14="http://schemas.microsoft.com/office/powerpoint/2010/main" val="530518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ight Triangle 13">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98CE2EEB-1827-4648-61B8-B9AA0450CD69}"/>
              </a:ext>
            </a:extLst>
          </p:cNvPr>
          <p:cNvSpPr>
            <a:spLocks noGrp="1" noChangeArrowheads="1"/>
          </p:cNvSpPr>
          <p:nvPr>
            <p:ph type="title"/>
          </p:nvPr>
        </p:nvSpPr>
        <p:spPr bwMode="auto">
          <a:xfrm>
            <a:off x="8029293" y="806364"/>
            <a:ext cx="3354636" cy="28474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fontAlgn="base">
              <a:spcAft>
                <a:spcPct val="0"/>
              </a:spcAft>
              <a:buClrTx/>
              <a:buSzTx/>
              <a:tabLst/>
            </a:pPr>
            <a:r>
              <a:rPr kumimoji="0" lang="en-US" altLang="en-US" sz="1500" b="1" i="0" u="none" strike="noStrike" kern="1200" cap="none" normalizeH="0" baseline="0" dirty="0">
                <a:ln>
                  <a:noFill/>
                </a:ln>
                <a:solidFill>
                  <a:schemeClr val="tx1"/>
                </a:solidFill>
                <a:effectLst/>
                <a:latin typeface="+mj-lt"/>
                <a:ea typeface="+mj-ea"/>
                <a:cs typeface="+mj-cs"/>
              </a:rPr>
              <a:t>KEY TAKEAWAYS</a:t>
            </a:r>
            <a:br>
              <a:rPr kumimoji="0" lang="en-US" altLang="en-US" sz="1500" b="1" i="0" u="none" strike="noStrike" kern="1200" cap="none" normalizeH="0" baseline="0" dirty="0">
                <a:ln>
                  <a:noFill/>
                </a:ln>
                <a:solidFill>
                  <a:schemeClr val="tx1"/>
                </a:solidFill>
                <a:effectLst/>
                <a:latin typeface="+mj-lt"/>
                <a:ea typeface="+mj-ea"/>
                <a:cs typeface="+mj-cs"/>
              </a:rPr>
            </a:br>
            <a:br>
              <a:rPr kumimoji="0" lang="en-US" altLang="en-US" sz="1500" b="1" i="0" u="none" strike="noStrike" kern="1200" cap="none" normalizeH="0" baseline="0" dirty="0">
                <a:ln>
                  <a:noFill/>
                </a:ln>
                <a:solidFill>
                  <a:schemeClr val="tx1"/>
                </a:solidFill>
                <a:effectLst/>
                <a:latin typeface="+mj-lt"/>
                <a:ea typeface="+mj-ea"/>
                <a:cs typeface="+mj-cs"/>
              </a:rPr>
            </a:br>
            <a:r>
              <a:rPr kumimoji="0" lang="en-US" altLang="en-US" sz="1500" b="1" i="0" u="none" strike="noStrike" kern="1200" cap="none" normalizeH="0" baseline="0" dirty="0">
                <a:ln>
                  <a:noFill/>
                </a:ln>
                <a:solidFill>
                  <a:schemeClr val="tx1"/>
                </a:solidFill>
                <a:effectLst/>
                <a:latin typeface="+mj-lt"/>
                <a:ea typeface="+mj-ea"/>
                <a:cs typeface="+mj-cs"/>
              </a:rPr>
              <a:t>- Logistics dominate risk:</a:t>
            </a:r>
            <a:r>
              <a:rPr kumimoji="0" lang="en-US" altLang="en-US" sz="1500" b="0" i="0" u="none" strike="noStrike" kern="1200" cap="none" normalizeH="0" baseline="0" dirty="0">
                <a:ln>
                  <a:noFill/>
                </a:ln>
                <a:solidFill>
                  <a:schemeClr val="tx1"/>
                </a:solidFill>
                <a:effectLst/>
                <a:latin typeface="+mj-lt"/>
                <a:ea typeface="+mj-ea"/>
                <a:cs typeface="+mj-cs"/>
              </a:rPr>
              <a:t> Shipping disruptions generate the largest and most widespread shortfalls across minerals.</a:t>
            </a:r>
            <a:br>
              <a:rPr kumimoji="0" lang="en-US" altLang="en-US" sz="1500" b="0" i="0" u="none" strike="noStrike" kern="1200" cap="none" normalizeH="0" baseline="0" dirty="0">
                <a:ln>
                  <a:noFill/>
                </a:ln>
                <a:solidFill>
                  <a:schemeClr val="tx1"/>
                </a:solidFill>
                <a:effectLst/>
                <a:latin typeface="+mj-lt"/>
                <a:ea typeface="+mj-ea"/>
                <a:cs typeface="+mj-cs"/>
              </a:rPr>
            </a:br>
            <a:endParaRPr kumimoji="0" lang="en-US" altLang="en-US" sz="1500" b="0" i="0" u="none" strike="noStrike" kern="1200" cap="none" normalizeH="0" baseline="0" dirty="0">
              <a:ln>
                <a:noFill/>
              </a:ln>
              <a:solidFill>
                <a:schemeClr val="tx1"/>
              </a:solidFill>
              <a:effectLst/>
              <a:latin typeface="+mj-lt"/>
              <a:ea typeface="+mj-ea"/>
              <a:cs typeface="+mj-cs"/>
            </a:endParaRPr>
          </a:p>
          <a:p>
            <a:pPr marL="0" marR="0" lvl="0" indent="0" fontAlgn="base">
              <a:spcAft>
                <a:spcPct val="0"/>
              </a:spcAft>
              <a:buClrTx/>
              <a:buSzTx/>
              <a:tabLst/>
            </a:pPr>
            <a:r>
              <a:rPr kumimoji="0" lang="en-US" altLang="en-US" sz="1500" b="1" i="0" u="none" strike="noStrike" kern="1200" cap="none" normalizeH="0" baseline="0" dirty="0">
                <a:ln>
                  <a:noFill/>
                </a:ln>
                <a:solidFill>
                  <a:schemeClr val="tx1"/>
                </a:solidFill>
                <a:effectLst/>
                <a:latin typeface="+mj-lt"/>
                <a:ea typeface="+mj-ea"/>
                <a:cs typeface="+mj-cs"/>
              </a:rPr>
              <a:t>- Concentration matters:</a:t>
            </a:r>
            <a:r>
              <a:rPr kumimoji="0" lang="en-US" altLang="en-US" sz="1500" b="0" i="0" u="none" strike="noStrike" kern="1200" cap="none" normalizeH="0" baseline="0" dirty="0">
                <a:ln>
                  <a:noFill/>
                </a:ln>
                <a:solidFill>
                  <a:schemeClr val="tx1"/>
                </a:solidFill>
                <a:effectLst/>
                <a:latin typeface="+mj-lt"/>
                <a:ea typeface="+mj-ea"/>
                <a:cs typeface="+mj-cs"/>
              </a:rPr>
              <a:t> Many minerals remain vulnerable due to single-supplier dependence, even when sourced from allies.</a:t>
            </a:r>
          </a:p>
        </p:txBody>
      </p:sp>
      <p:pic>
        <p:nvPicPr>
          <p:cNvPr id="5" name="Picture 4">
            <a:extLst>
              <a:ext uri="{FF2B5EF4-FFF2-40B4-BE49-F238E27FC236}">
                <a16:creationId xmlns:a16="http://schemas.microsoft.com/office/drawing/2014/main" id="{67A6F78F-FF3A-8990-E0B6-7F7332BCA305}"/>
              </a:ext>
            </a:extLst>
          </p:cNvPr>
          <p:cNvPicPr>
            <a:picLocks noChangeAspect="1"/>
          </p:cNvPicPr>
          <p:nvPr/>
        </p:nvPicPr>
        <p:blipFill>
          <a:blip r:embed="rId2"/>
          <a:stretch>
            <a:fillRect/>
          </a:stretch>
        </p:blipFill>
        <p:spPr>
          <a:xfrm>
            <a:off x="1296558" y="1682804"/>
            <a:ext cx="5604636" cy="3474873"/>
          </a:xfrm>
          <a:prstGeom prst="rect">
            <a:avLst/>
          </a:prstGeom>
        </p:spPr>
      </p:pic>
    </p:spTree>
    <p:extLst>
      <p:ext uri="{BB962C8B-B14F-4D97-AF65-F5344CB8AC3E}">
        <p14:creationId xmlns:p14="http://schemas.microsoft.com/office/powerpoint/2010/main" val="1790736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E025-E3E7-71E9-F5EC-559EED1A1687}"/>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F1116900-FCF0-0438-B570-304AD21A04A9}"/>
              </a:ext>
            </a:extLst>
          </p:cNvPr>
          <p:cNvSpPr>
            <a:spLocks noGrp="1"/>
          </p:cNvSpPr>
          <p:nvPr>
            <p:ph idx="1"/>
          </p:nvPr>
        </p:nvSpPr>
        <p:spPr/>
        <p:txBody>
          <a:bodyPr/>
          <a:lstStyle/>
          <a:p>
            <a:pPr marL="0" indent="0">
              <a:buNone/>
            </a:pPr>
            <a:r>
              <a:rPr lang="en-US" dirty="0"/>
              <a:t>Data Sources</a:t>
            </a:r>
          </a:p>
          <a:p>
            <a:pPr marL="0" indent="0">
              <a:buNone/>
            </a:pPr>
            <a:r>
              <a:rPr lang="en-US" dirty="0">
                <a:hlinkClick r:id="rId2"/>
              </a:rPr>
              <a:t>https://www.energy.gov/cmm/what-are-critical-materials-and-critical-minerals</a:t>
            </a:r>
            <a:endParaRPr lang="en-US" dirty="0"/>
          </a:p>
          <a:p>
            <a:pPr marL="0" indent="0">
              <a:buNone/>
            </a:pPr>
            <a:r>
              <a:rPr lang="en-US" dirty="0">
                <a:hlinkClick r:id="rId3"/>
              </a:rPr>
              <a:t>https://www.usgs.gov/centers/national-minerals-information-center/titanium-statistics-and-information</a:t>
            </a:r>
            <a:r>
              <a:rPr lang="en-US" dirty="0"/>
              <a:t> </a:t>
            </a:r>
          </a:p>
          <a:p>
            <a:pPr marL="0" indent="0">
              <a:buNone/>
            </a:pPr>
            <a:r>
              <a:rPr lang="en-US" dirty="0">
                <a:hlinkClick r:id="rId4"/>
              </a:rPr>
              <a:t>https://www.usgs.gov/news/national-news-release/us-geological-survey-releases-2022-list-critical-minerals</a:t>
            </a:r>
            <a:r>
              <a:rPr lang="en-US" dirty="0"/>
              <a:t> </a:t>
            </a:r>
          </a:p>
          <a:p>
            <a:pPr marL="0" indent="0">
              <a:buNone/>
            </a:pPr>
            <a:r>
              <a:rPr lang="en-US" dirty="0">
                <a:hlinkClick r:id="rId5"/>
              </a:rPr>
              <a:t>https://pubs.usgs.gov</a:t>
            </a:r>
            <a:r>
              <a:rPr lang="en-US">
                <a:hlinkClick r:id="rId5"/>
              </a:rPr>
              <a:t>/periodicals/mcs2022/</a:t>
            </a:r>
            <a:r>
              <a:rPr lang="en-US"/>
              <a:t> </a:t>
            </a:r>
            <a:endParaRPr lang="en-US" dirty="0"/>
          </a:p>
        </p:txBody>
      </p:sp>
    </p:spTree>
    <p:extLst>
      <p:ext uri="{BB962C8B-B14F-4D97-AF65-F5344CB8AC3E}">
        <p14:creationId xmlns:p14="http://schemas.microsoft.com/office/powerpoint/2010/main" val="1777655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718</Words>
  <Application>Microsoft Macintosh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United States and its Dependency on Critical Minerals - 2022</vt:lpstr>
      <vt:lpstr>The United States imports many minerals from around the world and relies on both ally nations and geopolitically contentious countries.   - At the top of this list is titanium. Approximately 95% of titanium is consumed in the form of titanium dioxide (TiO₂), a white pigment widely used in paints, paper, and plastics.</vt:lpstr>
      <vt:lpstr>Many critical minerals have extreme single-supplier concentration  - A large cluster of rare earth elements sit around ~78% top supplier share. - That means roughly three-quarters of U.S. imports for each of those minerals come from one country.  - This is classic single-point-of-failure risk, even before geopolitics enters the picture. </vt:lpstr>
      <vt:lpstr>Here we see that the United States sources critical minerals from around the world, with particularly strong reliance on neighboring countries such as Canada and Mexico.</vt:lpstr>
      <vt:lpstr>Top 20 source countries by overall exposure across U.S. critical mineral imports.   - Exposure reflects the summed import shares across all minerals, highlighting countries that repeatedly appear as significant suppliers.  - Canada stands out as the largest source, underscoring the importance of allied and geographically proximate partners in U.S. supply chains.  - Several neutral countries also play major roles, while China is the most prominent competitor source, indicating a concentrated point of geopolitical risk relative to other competitors.</vt:lpstr>
      <vt:lpstr>Under the war-only and sanctions-only scenarios, most minerals show relatively low shortfall estimates, indicating that direct geopolitical conflict or targeted sanctions alone may not uniformly disrupt supply across all minerals.   In contrast, the shipping disruption-only scenario produces the most severe and widespread impacts. Many minerals show substantially higher shortfall percentages, suggesting that logistical chokepoints and transportation interruptions pose a greater systemic risk to mineral availability than geopolitical actions alone. This underscores the vulnerability of globalized supply chains to non-military disruptions such as port closures, canal blockages, or maritime instability.  The economic crisis scenario shows more moderate but broadly distributed impacts across minerals. While shortfalls are generally lower than those under shipping disruptions, they are more evenly spread, indicating that demand shocks, financial constraints, and reduced production capacity can affect a wide range of minerals simultaneously.</vt:lpstr>
      <vt:lpstr>China-linked exposure - A small subset of minerals drives most shortfall risk, rather than broad-based disruption across all minerals.  - Shipping disruptions: Create the largest shortfalls for China-linked minerals, especially titanium and graphite, underscoring reliance on logistics and trade routes.  - War and sanctions: Generally lower impacts, suggesting indirect exposure rather than immediate cutoff for most China-linked supplies.  - Economic crisis: Produces moderate, consistent stress across minerals, reflecting demand and production sensitivity rather than geopolitical leverage.</vt:lpstr>
      <vt:lpstr>Both China and Russia are strategically contentious from a U.S. foreign-policy perspective, but their roles in critical mineral supply chains are fundamentally different.  - China-linked minerals: Exhibit broader and more variable shortfall risk across scenarios, reflecting China’s central position in global mining, processing, and logistics networks.  - Russia-linked minerals: Show narrower and more consistent impacts, indicating concentrated exposure in fewer minerals rather than system-wide dependency.  - While both countries present geopolitical risk, U.S. mineral supply vulnerability is not equivalent; China poses a more systemic supply-chain risk, whereas Russia’s impact is more limited and mineral-specific.</vt:lpstr>
      <vt:lpstr>KEY TAKEAWAYS  - Logistics dominate risk: Shipping disruptions generate the largest and most widespread shortfalls across minerals.  - Concentration matters: Many minerals remain vulnerable due to single-supplier dependence, even when sourced from allies.</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Cruz</dc:creator>
  <cp:lastModifiedBy>John Cruz</cp:lastModifiedBy>
  <cp:revision>4</cp:revision>
  <dcterms:created xsi:type="dcterms:W3CDTF">2025-12-15T04:39:20Z</dcterms:created>
  <dcterms:modified xsi:type="dcterms:W3CDTF">2025-12-15T05:21:37Z</dcterms:modified>
</cp:coreProperties>
</file>